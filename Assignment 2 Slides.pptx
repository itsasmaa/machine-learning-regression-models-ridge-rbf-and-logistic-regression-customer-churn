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Canva Sans Bold" charset="1" panose="020B0803030501040103"/>
      <p:regular r:id="rId33"/>
    </p:embeddedFont>
    <p:embeddedFont>
      <p:font typeface="Canva Sans" charset="1" panose="020B0503030501040103"/>
      <p:regular r:id="rId34"/>
    </p:embeddedFont>
    <p:embeddedFont>
      <p:font typeface="Open Sans" charset="1" panose="020B0606030504020204"/>
      <p:regular r:id="rId35"/>
    </p:embeddedFont>
    <p:embeddedFont>
      <p:font typeface="Canva Sans Medium" charset="1" panose="020B0603030501040103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2DC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495491" y="1210179"/>
            <a:ext cx="7763809" cy="7650469"/>
          </a:xfrm>
          <a:custGeom>
            <a:avLst/>
            <a:gdLst/>
            <a:ahLst/>
            <a:cxnLst/>
            <a:rect r="r" b="b" t="t" l="l"/>
            <a:pathLst>
              <a:path h="7650469" w="7763809">
                <a:moveTo>
                  <a:pt x="0" y="0"/>
                </a:moveTo>
                <a:lnTo>
                  <a:pt x="7763809" y="0"/>
                </a:lnTo>
                <a:lnTo>
                  <a:pt x="7763809" y="7650469"/>
                </a:lnTo>
                <a:lnTo>
                  <a:pt x="0" y="7650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18346" y="2546981"/>
            <a:ext cx="4321642" cy="6189852"/>
          </a:xfrm>
          <a:custGeom>
            <a:avLst/>
            <a:gdLst/>
            <a:ahLst/>
            <a:cxnLst/>
            <a:rect r="r" b="b" t="t" l="l"/>
            <a:pathLst>
              <a:path h="6189852" w="4321642">
                <a:moveTo>
                  <a:pt x="0" y="0"/>
                </a:moveTo>
                <a:lnTo>
                  <a:pt x="4321642" y="0"/>
                </a:lnTo>
                <a:lnTo>
                  <a:pt x="4321642" y="6189852"/>
                </a:lnTo>
                <a:lnTo>
                  <a:pt x="0" y="61898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59325" y="3769455"/>
            <a:ext cx="10389646" cy="359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45"/>
              </a:lnSpc>
            </a:pPr>
            <a:r>
              <a:rPr lang="en-US" sz="6818" b="true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Ass</a:t>
            </a:r>
            <a:r>
              <a:rPr lang="en-US" sz="6818" b="true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ignment 2: Non-Linear &amp; Logistic Regression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552902" y="3095507"/>
            <a:ext cx="9696902" cy="117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45"/>
              </a:lnSpc>
            </a:pPr>
            <a:r>
              <a:rPr lang="en-US" sz="6818" b="true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0107" y="5038725"/>
            <a:ext cx="9734074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Asma’a Fares                    1210084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Khaled Rimawi                 1210618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507365" y="2853184"/>
            <a:ext cx="5751935" cy="4580632"/>
          </a:xfrm>
          <a:custGeom>
            <a:avLst/>
            <a:gdLst/>
            <a:ahLst/>
            <a:cxnLst/>
            <a:rect r="r" b="b" t="t" l="l"/>
            <a:pathLst>
              <a:path h="4580632" w="5751935">
                <a:moveTo>
                  <a:pt x="0" y="0"/>
                </a:moveTo>
                <a:lnTo>
                  <a:pt x="5751935" y="0"/>
                </a:lnTo>
                <a:lnTo>
                  <a:pt x="5751935" y="4580632"/>
                </a:lnTo>
                <a:lnTo>
                  <a:pt x="0" y="45806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204270" y="2018533"/>
            <a:ext cx="7322748" cy="168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3500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Pa</a:t>
            </a:r>
            <a:r>
              <a:rPr lang="en-US" sz="3500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rt 1 – Non-Linear Regression (Ridge &amp; RBF)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788453" y="2191841"/>
            <a:ext cx="771999" cy="771999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1C3C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901847" y="2181410"/>
            <a:ext cx="545211" cy="66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1"/>
              </a:lnSpc>
            </a:pPr>
            <a:r>
              <a:rPr lang="en-US" sz="3554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04270" y="4042233"/>
            <a:ext cx="7322748" cy="168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3500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Pa</a:t>
            </a:r>
            <a:r>
              <a:rPr lang="en-US" sz="3500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rt 2 – Logistic Regression for Churn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788453" y="4213313"/>
            <a:ext cx="771999" cy="771999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D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901847" y="4229389"/>
            <a:ext cx="545211" cy="66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81"/>
              </a:lnSpc>
              <a:spcBef>
                <a:spcPct val="0"/>
              </a:spcBef>
            </a:pPr>
            <a:r>
              <a:rPr lang="en-US" sz="3554" u="none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04270" y="8096407"/>
            <a:ext cx="7322748" cy="79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000"/>
              </a:lnSpc>
              <a:spcBef>
                <a:spcPct val="0"/>
              </a:spcBef>
            </a:pPr>
            <a:r>
              <a:rPr lang="en-US" sz="3500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500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onclusions and lessons learned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788453" y="8263032"/>
            <a:ext cx="771999" cy="771999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2DC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901847" y="8252601"/>
            <a:ext cx="545211" cy="66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81"/>
              </a:lnSpc>
              <a:spcBef>
                <a:spcPct val="0"/>
              </a:spcBef>
            </a:pPr>
            <a:r>
              <a:rPr lang="en-US" sz="3554" u="none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04270" y="6065933"/>
            <a:ext cx="7753373" cy="168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000"/>
              </a:lnSpc>
              <a:spcBef>
                <a:spcPct val="0"/>
              </a:spcBef>
            </a:pPr>
            <a:r>
              <a:rPr lang="en-US" sz="3500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Mod</a:t>
            </a:r>
            <a:r>
              <a:rPr lang="en-US" sz="3500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el comparison &amp; evaluation metrics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788453" y="6234786"/>
            <a:ext cx="771999" cy="771999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1C3C9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901847" y="6224354"/>
            <a:ext cx="545211" cy="66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81"/>
              </a:lnSpc>
              <a:spcBef>
                <a:spcPct val="0"/>
              </a:spcBef>
            </a:pPr>
            <a:r>
              <a:rPr lang="en-US" sz="3554" u="none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03753" y="2175753"/>
            <a:ext cx="4257587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Agenda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715895" y="4146550"/>
            <a:ext cx="21719790" cy="189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Part 1 – Non-Linear Regression </a:t>
            </a:r>
          </a:p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(Ridge &amp; RBF)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899932" y="4241800"/>
            <a:ext cx="771999" cy="771999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1C3C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013326" y="4231369"/>
            <a:ext cx="545211" cy="66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1"/>
              </a:lnSpc>
            </a:pPr>
            <a:r>
              <a:rPr lang="en-US" sz="3554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 flipV="true">
            <a:off x="9134475" y="3213509"/>
            <a:ext cx="9525" cy="6475415"/>
          </a:xfrm>
          <a:prstGeom prst="line">
            <a:avLst/>
          </a:prstGeom>
          <a:ln cap="flat" w="19050">
            <a:solidFill>
              <a:srgbClr val="C2D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06365" y="3213509"/>
            <a:ext cx="8028110" cy="6260103"/>
          </a:xfrm>
          <a:custGeom>
            <a:avLst/>
            <a:gdLst/>
            <a:ahLst/>
            <a:cxnLst/>
            <a:rect r="r" b="b" t="t" l="l"/>
            <a:pathLst>
              <a:path h="6260103" w="8028110">
                <a:moveTo>
                  <a:pt x="0" y="0"/>
                </a:moveTo>
                <a:lnTo>
                  <a:pt x="8028110" y="0"/>
                </a:lnTo>
                <a:lnTo>
                  <a:pt x="8028110" y="6260103"/>
                </a:lnTo>
                <a:lnTo>
                  <a:pt x="0" y="62601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20" t="-2202" r="0" b="-220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1725420" y="933450"/>
            <a:ext cx="21719790" cy="189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A.1) Ridge Regression - Synthetic Regression</a:t>
            </a:r>
          </a:p>
          <a:p>
            <a:pPr algn="ctr">
              <a:lnSpc>
                <a:spcPts val="76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723263" y="6394067"/>
            <a:ext cx="5763110" cy="227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Utilizing </a:t>
            </a:r>
            <a:r>
              <a:rPr lang="en-US" sz="2599" b="true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normal noise</a:t>
            </a:r>
            <a:r>
              <a:rPr lang="en-US" sz="25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 rather than </a:t>
            </a:r>
            <a:r>
              <a:rPr lang="en-US" sz="2599" b="true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uniform </a:t>
            </a:r>
            <a:r>
              <a:rPr lang="en-US" sz="25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noise better represents realistic scenarios, as most noise tends to cluster around zero, with only a few extreme outliers present.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23263" y="3847082"/>
            <a:ext cx="5763110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we used Synthetic one-dimensional input </a:t>
            </a:r>
            <a:r>
              <a:rPr lang="en-US" sz="2599" b="true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</a:t>
            </a:r>
            <a:r>
              <a:rPr lang="en-US" sz="25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∈</a:t>
            </a:r>
            <a:r>
              <a:rPr lang="en-US" sz="2599" b="true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[0,1]</a:t>
            </a:r>
            <a:r>
              <a:rPr lang="en-US" sz="25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 , and the target “</a:t>
            </a:r>
            <a:r>
              <a:rPr lang="en-US" sz="2599" b="true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</a:t>
            </a:r>
            <a:r>
              <a:rPr lang="en-US" sz="25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” values come from non-linear function </a:t>
            </a:r>
            <a:r>
              <a:rPr lang="en-US" sz="2599" b="true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(sin(5πx)) +</a:t>
            </a:r>
            <a:r>
              <a:rPr lang="en-US" sz="2599" b="true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noise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18662" y="2579237"/>
            <a:ext cx="16140638" cy="7109687"/>
            <a:chOff x="0" y="0"/>
            <a:chExt cx="4251032" cy="18725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51032" cy="1872510"/>
            </a:xfrm>
            <a:custGeom>
              <a:avLst/>
              <a:gdLst/>
              <a:ahLst/>
              <a:cxnLst/>
              <a:rect r="r" b="b" t="t" l="l"/>
              <a:pathLst>
                <a:path h="1872510" w="4251032">
                  <a:moveTo>
                    <a:pt x="16308" y="0"/>
                  </a:moveTo>
                  <a:lnTo>
                    <a:pt x="4234724" y="0"/>
                  </a:lnTo>
                  <a:cubicBezTo>
                    <a:pt x="4243731" y="0"/>
                    <a:pt x="4251032" y="7301"/>
                    <a:pt x="4251032" y="16308"/>
                  </a:cubicBezTo>
                  <a:lnTo>
                    <a:pt x="4251032" y="1856202"/>
                  </a:lnTo>
                  <a:cubicBezTo>
                    <a:pt x="4251032" y="1865209"/>
                    <a:pt x="4243731" y="1872510"/>
                    <a:pt x="4234724" y="1872510"/>
                  </a:cubicBezTo>
                  <a:lnTo>
                    <a:pt x="16308" y="1872510"/>
                  </a:lnTo>
                  <a:cubicBezTo>
                    <a:pt x="7301" y="1872510"/>
                    <a:pt x="0" y="1865209"/>
                    <a:pt x="0" y="1856202"/>
                  </a:cubicBezTo>
                  <a:lnTo>
                    <a:pt x="0" y="16308"/>
                  </a:lnTo>
                  <a:cubicBezTo>
                    <a:pt x="0" y="7301"/>
                    <a:pt x="7301" y="0"/>
                    <a:pt x="1630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2DC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251032" cy="19106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5493" y="1869513"/>
            <a:ext cx="15117013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A.2) Polynomial F</a:t>
            </a:r>
            <a:r>
              <a:rPr lang="en-US" sz="5499" strike="noStrike" u="none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eatures &amp; Ridge Regression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53043"/>
            <a:ext cx="9109993" cy="6994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b="true" sz="24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Original Feature and Expanded Features</a:t>
            </a:r>
          </a:p>
          <a:p>
            <a:pPr algn="l" marL="0" indent="0" lvl="0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Original feature : x 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Expanded features : [1, x, x², …, xᵈ] 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Degree d = 10  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Ridge Regression</a:t>
            </a:r>
          </a:p>
          <a:p>
            <a:pPr algn="l" marL="0" indent="0" lvl="0">
              <a:lnSpc>
                <a:spcPts val="3499"/>
              </a:lnSpc>
            </a:pPr>
          </a:p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Ridge regression aims to minimize the following objective:</a:t>
            </a:r>
          </a:p>
          <a:p>
            <a:pPr algn="l" marL="0" indent="0" lvl="0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Loss = || y − Xw ||² + λ || w ||²  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Where:  </a:t>
            </a:r>
            <a:r>
              <a:rPr lang="en-US" sz="2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λ (lambda) controls the strength of regularization.  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787427" y="3653043"/>
            <a:ext cx="7687140" cy="305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Bias–Variance Trade-Off</a:t>
            </a:r>
          </a:p>
          <a:p>
            <a:pPr algn="just">
              <a:lnSpc>
                <a:spcPts val="3499"/>
              </a:lnSpc>
            </a:pPr>
          </a:p>
          <a:p>
            <a:pPr algn="just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Small λ : L</a:t>
            </a:r>
            <a:r>
              <a:rPr lang="en-US" sz="2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ow bias , High variance , Model may overfit </a:t>
            </a:r>
          </a:p>
          <a:p>
            <a:pPr algn="just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Large λ : High bias , Low variance , Model may underfit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561869" y="3149375"/>
            <a:ext cx="17418203" cy="6598661"/>
            <a:chOff x="0" y="0"/>
            <a:chExt cx="4587510" cy="17379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87510" cy="1737919"/>
            </a:xfrm>
            <a:custGeom>
              <a:avLst/>
              <a:gdLst/>
              <a:ahLst/>
              <a:cxnLst/>
              <a:rect r="r" b="b" t="t" l="l"/>
              <a:pathLst>
                <a:path h="1737919" w="4587510">
                  <a:moveTo>
                    <a:pt x="15112" y="0"/>
                  </a:moveTo>
                  <a:lnTo>
                    <a:pt x="4572398" y="0"/>
                  </a:lnTo>
                  <a:cubicBezTo>
                    <a:pt x="4576406" y="0"/>
                    <a:pt x="4580250" y="1592"/>
                    <a:pt x="4583084" y="4426"/>
                  </a:cubicBezTo>
                  <a:cubicBezTo>
                    <a:pt x="4585918" y="7260"/>
                    <a:pt x="4587510" y="11104"/>
                    <a:pt x="4587510" y="15112"/>
                  </a:cubicBezTo>
                  <a:lnTo>
                    <a:pt x="4587510" y="1722807"/>
                  </a:lnTo>
                  <a:cubicBezTo>
                    <a:pt x="4587510" y="1731153"/>
                    <a:pt x="4580744" y="1737919"/>
                    <a:pt x="4572398" y="1737919"/>
                  </a:cubicBezTo>
                  <a:lnTo>
                    <a:pt x="15112" y="1737919"/>
                  </a:lnTo>
                  <a:cubicBezTo>
                    <a:pt x="6766" y="1737919"/>
                    <a:pt x="0" y="1731153"/>
                    <a:pt x="0" y="1722807"/>
                  </a:cubicBezTo>
                  <a:lnTo>
                    <a:pt x="0" y="15112"/>
                  </a:lnTo>
                  <a:cubicBezTo>
                    <a:pt x="0" y="6766"/>
                    <a:pt x="6766" y="0"/>
                    <a:pt x="151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2DC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587510" cy="1776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2092160"/>
            <a:ext cx="11301259" cy="6102680"/>
          </a:xfrm>
          <a:custGeom>
            <a:avLst/>
            <a:gdLst/>
            <a:ahLst/>
            <a:cxnLst/>
            <a:rect r="r" b="b" t="t" l="l"/>
            <a:pathLst>
              <a:path h="6102680" w="11301259">
                <a:moveTo>
                  <a:pt x="0" y="0"/>
                </a:moveTo>
                <a:lnTo>
                  <a:pt x="11301258" y="0"/>
                </a:lnTo>
                <a:lnTo>
                  <a:pt x="11301258" y="6102680"/>
                </a:lnTo>
                <a:lnTo>
                  <a:pt x="0" y="6102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15547" y="933450"/>
            <a:ext cx="15656906" cy="189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A.3) Ridg</a:t>
            </a:r>
            <a:r>
              <a:rPr lang="en-US" sz="5499" strike="noStrike" u="none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e Regression with Multiple λ Values</a:t>
            </a:r>
          </a:p>
          <a:p>
            <a:pPr algn="l" marL="0" indent="0" lvl="0">
              <a:lnSpc>
                <a:spcPts val="76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971437" y="8467090"/>
            <a:ext cx="14345127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λ = 0 or 0.05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 → The curve follows all noisy points too closely → </a:t>
            </a: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overfitting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λ = 0.2 or 2 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→ The curve is smooth and still close to the real sine wave → </a:t>
            </a: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seems best generalization.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λ = 15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 → The curve is too flat, missing the sine shape → </a:t>
            </a: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underfitting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118662" y="2092160"/>
            <a:ext cx="16140638" cy="7596765"/>
            <a:chOff x="0" y="0"/>
            <a:chExt cx="4251032" cy="20007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51032" cy="2000794"/>
            </a:xfrm>
            <a:custGeom>
              <a:avLst/>
              <a:gdLst/>
              <a:ahLst/>
              <a:cxnLst/>
              <a:rect r="r" b="b" t="t" l="l"/>
              <a:pathLst>
                <a:path h="2000794" w="4251032">
                  <a:moveTo>
                    <a:pt x="16308" y="0"/>
                  </a:moveTo>
                  <a:lnTo>
                    <a:pt x="4234724" y="0"/>
                  </a:lnTo>
                  <a:cubicBezTo>
                    <a:pt x="4243731" y="0"/>
                    <a:pt x="4251032" y="7301"/>
                    <a:pt x="4251032" y="16308"/>
                  </a:cubicBezTo>
                  <a:lnTo>
                    <a:pt x="4251032" y="1984486"/>
                  </a:lnTo>
                  <a:cubicBezTo>
                    <a:pt x="4251032" y="1993492"/>
                    <a:pt x="4243731" y="2000794"/>
                    <a:pt x="4234724" y="2000794"/>
                  </a:cubicBezTo>
                  <a:lnTo>
                    <a:pt x="16308" y="2000794"/>
                  </a:lnTo>
                  <a:cubicBezTo>
                    <a:pt x="7301" y="2000794"/>
                    <a:pt x="0" y="1993492"/>
                    <a:pt x="0" y="1984486"/>
                  </a:cubicBezTo>
                  <a:lnTo>
                    <a:pt x="0" y="16308"/>
                  </a:lnTo>
                  <a:cubicBezTo>
                    <a:pt x="0" y="7301"/>
                    <a:pt x="7301" y="0"/>
                    <a:pt x="1630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2DC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51032" cy="2038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5804" y="3508082"/>
            <a:ext cx="11407458" cy="5251208"/>
          </a:xfrm>
          <a:custGeom>
            <a:avLst/>
            <a:gdLst/>
            <a:ahLst/>
            <a:cxnLst/>
            <a:rect r="r" b="b" t="t" l="l"/>
            <a:pathLst>
              <a:path h="5251208" w="11407458">
                <a:moveTo>
                  <a:pt x="0" y="0"/>
                </a:moveTo>
                <a:lnTo>
                  <a:pt x="11407458" y="0"/>
                </a:lnTo>
                <a:lnTo>
                  <a:pt x="11407458" y="5251208"/>
                </a:lnTo>
                <a:lnTo>
                  <a:pt x="0" y="5251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" t="-1283" r="-13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643262" y="3780337"/>
            <a:ext cx="6221334" cy="211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9853" indent="-264926" lvl="1">
              <a:lnSpc>
                <a:spcPts val="3435"/>
              </a:lnSpc>
              <a:buFont typeface="Arial"/>
              <a:buChar char="•"/>
            </a:pPr>
            <a:r>
              <a:rPr lang="en-US" sz="2454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Radial Basis Function </a:t>
            </a:r>
            <a:r>
              <a:rPr lang="en-US" sz="2454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</a:p>
          <a:p>
            <a:pPr algn="l">
              <a:lnSpc>
                <a:spcPts val="3435"/>
              </a:lnSpc>
            </a:pPr>
            <a:r>
              <a:rPr lang="en-US" sz="2454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​</a:t>
            </a:r>
          </a:p>
          <a:p>
            <a:pPr algn="l">
              <a:lnSpc>
                <a:spcPts val="3435"/>
              </a:lnSpc>
            </a:pPr>
          </a:p>
          <a:p>
            <a:pPr algn="l" marL="529853" indent="-264926" lvl="1">
              <a:lnSpc>
                <a:spcPts val="3435"/>
              </a:lnSpc>
              <a:buFont typeface="Arial"/>
              <a:buChar char="•"/>
            </a:pPr>
            <a:r>
              <a:rPr lang="en-US" sz="2454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Each curve is centered at a different α</a:t>
            </a:r>
          </a:p>
          <a:p>
            <a:pPr algn="l" marL="529853" indent="-264926" lvl="1">
              <a:lnSpc>
                <a:spcPts val="3435"/>
              </a:lnSpc>
              <a:buFont typeface="Arial"/>
              <a:buChar char="•"/>
            </a:pPr>
            <a:r>
              <a:rPr lang="en-US" sz="2454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Width λ controls spread here (λ=0.1)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922080" y="4238123"/>
            <a:ext cx="1854268" cy="620708"/>
          </a:xfrm>
          <a:custGeom>
            <a:avLst/>
            <a:gdLst/>
            <a:ahLst/>
            <a:cxnLst/>
            <a:rect r="r" b="b" t="t" l="l"/>
            <a:pathLst>
              <a:path h="620708" w="1854268">
                <a:moveTo>
                  <a:pt x="0" y="0"/>
                </a:moveTo>
                <a:lnTo>
                  <a:pt x="1854268" y="0"/>
                </a:lnTo>
                <a:lnTo>
                  <a:pt x="1854268" y="620708"/>
                </a:lnTo>
                <a:lnTo>
                  <a:pt x="0" y="620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31213" y="1197096"/>
            <a:ext cx="14625575" cy="1403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44"/>
              </a:lnSpc>
            </a:pPr>
            <a:r>
              <a:rPr lang="en-US" sz="5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B) RBF (Radial Basis</a:t>
            </a:r>
            <a:r>
              <a:rPr lang="en-US" sz="5499" strike="noStrike" u="none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 Function) Regression</a:t>
            </a:r>
          </a:p>
          <a:p>
            <a:pPr algn="l" marL="0" indent="0" lvl="0">
              <a:lnSpc>
                <a:spcPts val="5444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1643262" y="3508082"/>
            <a:ext cx="6221334" cy="2625604"/>
            <a:chOff x="0" y="0"/>
            <a:chExt cx="1638541" cy="6915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38540" cy="691517"/>
            </a:xfrm>
            <a:custGeom>
              <a:avLst/>
              <a:gdLst/>
              <a:ahLst/>
              <a:cxnLst/>
              <a:rect r="r" b="b" t="t" l="l"/>
              <a:pathLst>
                <a:path h="691517" w="1638540">
                  <a:moveTo>
                    <a:pt x="42310" y="0"/>
                  </a:moveTo>
                  <a:lnTo>
                    <a:pt x="1596230" y="0"/>
                  </a:lnTo>
                  <a:cubicBezTo>
                    <a:pt x="1607452" y="0"/>
                    <a:pt x="1618213" y="4458"/>
                    <a:pt x="1626148" y="12392"/>
                  </a:cubicBezTo>
                  <a:cubicBezTo>
                    <a:pt x="1634083" y="20327"/>
                    <a:pt x="1638540" y="31089"/>
                    <a:pt x="1638540" y="42310"/>
                  </a:cubicBezTo>
                  <a:lnTo>
                    <a:pt x="1638540" y="649207"/>
                  </a:lnTo>
                  <a:cubicBezTo>
                    <a:pt x="1638540" y="660428"/>
                    <a:pt x="1634083" y="671190"/>
                    <a:pt x="1626148" y="679125"/>
                  </a:cubicBezTo>
                  <a:cubicBezTo>
                    <a:pt x="1618213" y="687059"/>
                    <a:pt x="1607452" y="691517"/>
                    <a:pt x="1596230" y="691517"/>
                  </a:cubicBezTo>
                  <a:lnTo>
                    <a:pt x="42310" y="691517"/>
                  </a:lnTo>
                  <a:cubicBezTo>
                    <a:pt x="31089" y="691517"/>
                    <a:pt x="20327" y="687059"/>
                    <a:pt x="12392" y="679125"/>
                  </a:cubicBezTo>
                  <a:cubicBezTo>
                    <a:pt x="4458" y="671190"/>
                    <a:pt x="0" y="660428"/>
                    <a:pt x="0" y="649207"/>
                  </a:cubicBezTo>
                  <a:lnTo>
                    <a:pt x="0" y="42310"/>
                  </a:lnTo>
                  <a:cubicBezTo>
                    <a:pt x="0" y="31089"/>
                    <a:pt x="4458" y="20327"/>
                    <a:pt x="12392" y="12392"/>
                  </a:cubicBezTo>
                  <a:cubicBezTo>
                    <a:pt x="20327" y="4458"/>
                    <a:pt x="31089" y="0"/>
                    <a:pt x="423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2DC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38541" cy="729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30061" y="8402830"/>
            <a:ext cx="6043624" cy="1659144"/>
            <a:chOff x="0" y="0"/>
            <a:chExt cx="1591736" cy="4369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91736" cy="436976"/>
            </a:xfrm>
            <a:custGeom>
              <a:avLst/>
              <a:gdLst/>
              <a:ahLst/>
              <a:cxnLst/>
              <a:rect r="r" b="b" t="t" l="l"/>
              <a:pathLst>
                <a:path h="436976" w="1591736">
                  <a:moveTo>
                    <a:pt x="43554" y="0"/>
                  </a:moveTo>
                  <a:lnTo>
                    <a:pt x="1548182" y="0"/>
                  </a:lnTo>
                  <a:cubicBezTo>
                    <a:pt x="1572236" y="0"/>
                    <a:pt x="1591736" y="19500"/>
                    <a:pt x="1591736" y="43554"/>
                  </a:cubicBezTo>
                  <a:lnTo>
                    <a:pt x="1591736" y="393422"/>
                  </a:lnTo>
                  <a:cubicBezTo>
                    <a:pt x="1591736" y="417476"/>
                    <a:pt x="1572236" y="436976"/>
                    <a:pt x="1548182" y="436976"/>
                  </a:cubicBezTo>
                  <a:lnTo>
                    <a:pt x="43554" y="436976"/>
                  </a:lnTo>
                  <a:cubicBezTo>
                    <a:pt x="19500" y="436976"/>
                    <a:pt x="0" y="417476"/>
                    <a:pt x="0" y="393422"/>
                  </a:cubicBezTo>
                  <a:lnTo>
                    <a:pt x="0" y="43554"/>
                  </a:lnTo>
                  <a:cubicBezTo>
                    <a:pt x="0" y="19500"/>
                    <a:pt x="19500" y="0"/>
                    <a:pt x="4355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2DC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91736" cy="475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601315" y="6590545"/>
            <a:ext cx="1252328" cy="1218173"/>
          </a:xfrm>
          <a:custGeom>
            <a:avLst/>
            <a:gdLst/>
            <a:ahLst/>
            <a:cxnLst/>
            <a:rect r="r" b="b" t="t" l="l"/>
            <a:pathLst>
              <a:path h="1218173" w="1252328">
                <a:moveTo>
                  <a:pt x="0" y="0"/>
                </a:moveTo>
                <a:lnTo>
                  <a:pt x="1252328" y="0"/>
                </a:lnTo>
                <a:lnTo>
                  <a:pt x="1252328" y="1218173"/>
                </a:lnTo>
                <a:lnTo>
                  <a:pt x="0" y="12181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3586273" y="2170116"/>
            <a:ext cx="11115454" cy="5946768"/>
          </a:xfrm>
          <a:custGeom>
            <a:avLst/>
            <a:gdLst/>
            <a:ahLst/>
            <a:cxnLst/>
            <a:rect r="r" b="b" t="t" l="l"/>
            <a:pathLst>
              <a:path h="5946768" w="11115454">
                <a:moveTo>
                  <a:pt x="0" y="0"/>
                </a:moveTo>
                <a:lnTo>
                  <a:pt x="11115454" y="0"/>
                </a:lnTo>
                <a:lnTo>
                  <a:pt x="11115454" y="5946768"/>
                </a:lnTo>
                <a:lnTo>
                  <a:pt x="0" y="59467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165543" y="1029817"/>
            <a:ext cx="18786044" cy="189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RBF with </a:t>
            </a:r>
            <a:r>
              <a:rPr lang="en-US" sz="5499" strike="noStrike" u="none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Different Numbers of Basis Functions</a:t>
            </a:r>
          </a:p>
          <a:p>
            <a:pPr algn="ctr" marL="0" indent="0" lvl="0">
              <a:lnSpc>
                <a:spcPts val="769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009844" y="8364730"/>
            <a:ext cx="11445771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9"/>
              </a:lnSpc>
            </a:pPr>
            <a:r>
              <a:rPr lang="en-US" b="true" sz="240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RBF</a:t>
            </a:r>
            <a:r>
              <a:rPr lang="en-US" sz="2400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: Too simple, underfits.</a:t>
            </a:r>
          </a:p>
          <a:p>
            <a:pPr algn="just" marL="0" indent="0" lvl="0">
              <a:lnSpc>
                <a:spcPts val="3359"/>
              </a:lnSpc>
            </a:pPr>
            <a:r>
              <a:rPr lang="en-US" b="true" sz="240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 RBFs</a:t>
            </a:r>
            <a:r>
              <a:rPr lang="en-US" sz="2400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: Good balance, generalizes well.</a:t>
            </a:r>
          </a:p>
          <a:p>
            <a:pPr algn="just" marL="0" indent="0" lvl="0">
              <a:lnSpc>
                <a:spcPts val="3359"/>
              </a:lnSpc>
            </a:pPr>
            <a:r>
              <a:rPr lang="en-US" b="true" sz="240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 RBFs</a:t>
            </a:r>
            <a:r>
              <a:rPr lang="en-US" sz="2400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: Captures details, moderate fit.</a:t>
            </a:r>
          </a:p>
          <a:p>
            <a:pPr algn="just" marL="0" indent="0" lvl="0">
              <a:lnSpc>
                <a:spcPts val="3359"/>
              </a:lnSpc>
            </a:pPr>
            <a:r>
              <a:rPr lang="en-US" b="true" sz="240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50 RBFs</a:t>
            </a:r>
            <a:r>
              <a:rPr lang="en-US" sz="2400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: Overfits, fits noise.</a:t>
            </a:r>
          </a:p>
          <a:p>
            <a:pPr algn="just" marL="0" indent="0" lvl="0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9414315" y="8402830"/>
            <a:ext cx="6043624" cy="1659144"/>
            <a:chOff x="0" y="0"/>
            <a:chExt cx="1591736" cy="4369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91736" cy="436976"/>
            </a:xfrm>
            <a:custGeom>
              <a:avLst/>
              <a:gdLst/>
              <a:ahLst/>
              <a:cxnLst/>
              <a:rect r="r" b="b" t="t" l="l"/>
              <a:pathLst>
                <a:path h="436976" w="1591736">
                  <a:moveTo>
                    <a:pt x="43554" y="0"/>
                  </a:moveTo>
                  <a:lnTo>
                    <a:pt x="1548182" y="0"/>
                  </a:lnTo>
                  <a:cubicBezTo>
                    <a:pt x="1572236" y="0"/>
                    <a:pt x="1591736" y="19500"/>
                    <a:pt x="1591736" y="43554"/>
                  </a:cubicBezTo>
                  <a:lnTo>
                    <a:pt x="1591736" y="393422"/>
                  </a:lnTo>
                  <a:cubicBezTo>
                    <a:pt x="1591736" y="417476"/>
                    <a:pt x="1572236" y="436976"/>
                    <a:pt x="1548182" y="436976"/>
                  </a:cubicBezTo>
                  <a:lnTo>
                    <a:pt x="43554" y="436976"/>
                  </a:lnTo>
                  <a:cubicBezTo>
                    <a:pt x="19500" y="436976"/>
                    <a:pt x="0" y="417476"/>
                    <a:pt x="0" y="393422"/>
                  </a:cubicBezTo>
                  <a:lnTo>
                    <a:pt x="0" y="43554"/>
                  </a:lnTo>
                  <a:cubicBezTo>
                    <a:pt x="0" y="19500"/>
                    <a:pt x="19500" y="0"/>
                    <a:pt x="4355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2DC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91736" cy="475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17917" y="8395210"/>
            <a:ext cx="5636419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  <a:r>
              <a:rPr lang="en-US" sz="2400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: The configuration with 5 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or 10 RBF basis functions provides the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 best generalization performance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715895" y="4485300"/>
            <a:ext cx="21719790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Part 2 – Logistic Regression for Churn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41343" y="4610476"/>
            <a:ext cx="771999" cy="771999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1C3C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54737" y="4600045"/>
            <a:ext cx="545211" cy="66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1"/>
              </a:lnSpc>
            </a:pPr>
            <a:r>
              <a:rPr lang="en-US" sz="3554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517804" y="2167117"/>
            <a:ext cx="699655" cy="69965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C3C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558104" y="6998961"/>
            <a:ext cx="699655" cy="69965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C3C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92625" y="6384244"/>
            <a:ext cx="8434763" cy="3164691"/>
          </a:xfrm>
          <a:custGeom>
            <a:avLst/>
            <a:gdLst/>
            <a:ahLst/>
            <a:cxnLst/>
            <a:rect r="r" b="b" t="t" l="l"/>
            <a:pathLst>
              <a:path h="3164691" w="8434763">
                <a:moveTo>
                  <a:pt x="0" y="0"/>
                </a:moveTo>
                <a:lnTo>
                  <a:pt x="8434763" y="0"/>
                </a:lnTo>
                <a:lnTo>
                  <a:pt x="8434763" y="3164691"/>
                </a:lnTo>
                <a:lnTo>
                  <a:pt x="0" y="31646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04897" y="2243915"/>
            <a:ext cx="8430423" cy="3164691"/>
          </a:xfrm>
          <a:custGeom>
            <a:avLst/>
            <a:gdLst/>
            <a:ahLst/>
            <a:cxnLst/>
            <a:rect r="r" b="b" t="t" l="l"/>
            <a:pathLst>
              <a:path h="3164691" w="8430423">
                <a:moveTo>
                  <a:pt x="0" y="0"/>
                </a:moveTo>
                <a:lnTo>
                  <a:pt x="8430423" y="0"/>
                </a:lnTo>
                <a:lnTo>
                  <a:pt x="8430423" y="3164692"/>
                </a:lnTo>
                <a:lnTo>
                  <a:pt x="0" y="3164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4897" y="914400"/>
            <a:ext cx="7566570" cy="1403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44"/>
              </a:lnSpc>
              <a:spcBef>
                <a:spcPct val="0"/>
              </a:spcBef>
            </a:pPr>
            <a:r>
              <a:rPr lang="en-US" sz="5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A) Data Pr</a:t>
            </a:r>
            <a:r>
              <a:rPr lang="en-US" sz="5499" strike="noStrike" u="none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eprocessing</a:t>
            </a:r>
          </a:p>
          <a:p>
            <a:pPr algn="l" marL="0" indent="0" lvl="0">
              <a:lnSpc>
                <a:spcPts val="5444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560407" y="2129017"/>
            <a:ext cx="741100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240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issing Value Handling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00707" y="6960861"/>
            <a:ext cx="741100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utlier Detection (IQR Method)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17804" y="7079396"/>
            <a:ext cx="780254" cy="4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77505" y="2254140"/>
            <a:ext cx="780254" cy="4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04897" y="2167117"/>
            <a:ext cx="8588265" cy="3353321"/>
            <a:chOff x="0" y="0"/>
            <a:chExt cx="2261930" cy="88317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61930" cy="883179"/>
            </a:xfrm>
            <a:custGeom>
              <a:avLst/>
              <a:gdLst/>
              <a:ahLst/>
              <a:cxnLst/>
              <a:rect r="r" b="b" t="t" l="l"/>
              <a:pathLst>
                <a:path h="883179" w="2261930">
                  <a:moveTo>
                    <a:pt x="30649" y="0"/>
                  </a:moveTo>
                  <a:lnTo>
                    <a:pt x="2231280" y="0"/>
                  </a:lnTo>
                  <a:cubicBezTo>
                    <a:pt x="2239409" y="0"/>
                    <a:pt x="2247205" y="3229"/>
                    <a:pt x="2252953" y="8977"/>
                  </a:cubicBezTo>
                  <a:cubicBezTo>
                    <a:pt x="2258701" y="14725"/>
                    <a:pt x="2261930" y="22521"/>
                    <a:pt x="2261930" y="30649"/>
                  </a:cubicBezTo>
                  <a:lnTo>
                    <a:pt x="2261930" y="852530"/>
                  </a:lnTo>
                  <a:cubicBezTo>
                    <a:pt x="2261930" y="860659"/>
                    <a:pt x="2258701" y="868454"/>
                    <a:pt x="2252953" y="874202"/>
                  </a:cubicBezTo>
                  <a:cubicBezTo>
                    <a:pt x="2247205" y="879950"/>
                    <a:pt x="2239409" y="883179"/>
                    <a:pt x="2231280" y="883179"/>
                  </a:cubicBezTo>
                  <a:lnTo>
                    <a:pt x="30649" y="883179"/>
                  </a:lnTo>
                  <a:cubicBezTo>
                    <a:pt x="22521" y="883179"/>
                    <a:pt x="14725" y="879950"/>
                    <a:pt x="8977" y="874202"/>
                  </a:cubicBezTo>
                  <a:cubicBezTo>
                    <a:pt x="3229" y="868454"/>
                    <a:pt x="0" y="860659"/>
                    <a:pt x="0" y="852530"/>
                  </a:cubicBezTo>
                  <a:lnTo>
                    <a:pt x="0" y="30649"/>
                  </a:lnTo>
                  <a:cubicBezTo>
                    <a:pt x="0" y="22521"/>
                    <a:pt x="3229" y="14725"/>
                    <a:pt x="8977" y="8977"/>
                  </a:cubicBezTo>
                  <a:cubicBezTo>
                    <a:pt x="14725" y="3229"/>
                    <a:pt x="22521" y="0"/>
                    <a:pt x="306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2DC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61930" cy="921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33482" y="6307445"/>
            <a:ext cx="8559680" cy="3353321"/>
            <a:chOff x="0" y="0"/>
            <a:chExt cx="2254401" cy="88317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54401" cy="883179"/>
            </a:xfrm>
            <a:custGeom>
              <a:avLst/>
              <a:gdLst/>
              <a:ahLst/>
              <a:cxnLst/>
              <a:rect r="r" b="b" t="t" l="l"/>
              <a:pathLst>
                <a:path h="883179" w="2254401">
                  <a:moveTo>
                    <a:pt x="30752" y="0"/>
                  </a:moveTo>
                  <a:lnTo>
                    <a:pt x="2223649" y="0"/>
                  </a:lnTo>
                  <a:cubicBezTo>
                    <a:pt x="2231805" y="0"/>
                    <a:pt x="2239627" y="3240"/>
                    <a:pt x="2245394" y="9007"/>
                  </a:cubicBezTo>
                  <a:cubicBezTo>
                    <a:pt x="2251161" y="14774"/>
                    <a:pt x="2254401" y="22596"/>
                    <a:pt x="2254401" y="30752"/>
                  </a:cubicBezTo>
                  <a:lnTo>
                    <a:pt x="2254401" y="852427"/>
                  </a:lnTo>
                  <a:cubicBezTo>
                    <a:pt x="2254401" y="869411"/>
                    <a:pt x="2240633" y="883179"/>
                    <a:pt x="2223649" y="883179"/>
                  </a:cubicBezTo>
                  <a:lnTo>
                    <a:pt x="30752" y="883179"/>
                  </a:lnTo>
                  <a:cubicBezTo>
                    <a:pt x="22596" y="883179"/>
                    <a:pt x="14774" y="879939"/>
                    <a:pt x="9007" y="874172"/>
                  </a:cubicBezTo>
                  <a:cubicBezTo>
                    <a:pt x="3240" y="868405"/>
                    <a:pt x="0" y="860583"/>
                    <a:pt x="0" y="852427"/>
                  </a:cubicBezTo>
                  <a:lnTo>
                    <a:pt x="0" y="30752"/>
                  </a:lnTo>
                  <a:cubicBezTo>
                    <a:pt x="0" y="22596"/>
                    <a:pt x="3240" y="14774"/>
                    <a:pt x="9007" y="9007"/>
                  </a:cubicBezTo>
                  <a:cubicBezTo>
                    <a:pt x="14774" y="3240"/>
                    <a:pt x="22596" y="0"/>
                    <a:pt x="307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2DCFF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254401" cy="921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762746" y="5482338"/>
            <a:ext cx="351472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before Preprocessing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76054" y="9736967"/>
            <a:ext cx="328810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after Preprocessing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98404" y="3041080"/>
            <a:ext cx="8689596" cy="332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Identify missing values in each column  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Implemented a thoughtful strategy:  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If missing values are less than 5% → </a:t>
            </a: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Remove 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the affected rows  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If missing values range from 5% to 30% → </a:t>
            </a: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Impute 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using </a:t>
            </a: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median 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for numeric data and </a:t>
            </a: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 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for categorical data 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698970" y="7870066"/>
            <a:ext cx="7640003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Detected 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outliers using Interquartile Range (IQR)</a:t>
            </a:r>
          </a:p>
          <a:p>
            <a:pPr algn="just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Computes lower &amp; upper bounds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   </a:t>
            </a: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Q1 − 1.5×IQR, Q3 + 1.5×IQR)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70552" y="4676776"/>
            <a:ext cx="6976234" cy="4803106"/>
          </a:xfrm>
          <a:custGeom>
            <a:avLst/>
            <a:gdLst/>
            <a:ahLst/>
            <a:cxnLst/>
            <a:rect r="r" b="b" t="t" l="l"/>
            <a:pathLst>
              <a:path h="4803106" w="6976234">
                <a:moveTo>
                  <a:pt x="0" y="0"/>
                </a:moveTo>
                <a:lnTo>
                  <a:pt x="6976234" y="0"/>
                </a:lnTo>
                <a:lnTo>
                  <a:pt x="6976234" y="4803106"/>
                </a:lnTo>
                <a:lnTo>
                  <a:pt x="0" y="48031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52789" y="1028700"/>
            <a:ext cx="699655" cy="69965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C3C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395392" y="990600"/>
            <a:ext cx="741100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utlier Handling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2490" y="1109135"/>
            <a:ext cx="780254" cy="4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93089" y="5780477"/>
            <a:ext cx="699655" cy="69965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C3C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52789" y="5860912"/>
            <a:ext cx="780254" cy="4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3"/>
              </a:lnSpc>
              <a:spcBef>
                <a:spcPct val="0"/>
              </a:spcBef>
            </a:pPr>
            <a:r>
              <a:rPr lang="en-US" b="true" sz="2787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95392" y="5944181"/>
            <a:ext cx="228774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</a:t>
            </a: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ure Scaling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2490" y="1128185"/>
            <a:ext cx="12720003" cy="374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Three Modes: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Winsorization 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(default): Caps extreme values using the 1st and 99th percentiles.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Remove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: Eliminates rows containing outlier values.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Keep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: No action taken.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Automatically </a:t>
            </a: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bypasses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low-cardinality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 columns (fewer than 20 unique values).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1156134" y="9596713"/>
            <a:ext cx="500507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210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ummary of Preprocessing Operations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3089" y="7042107"/>
            <a:ext cx="7228264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Standardized numerical features using Z-score normalization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 → transf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orms data to mean = 0, standard deviation = 1.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986105"/>
            <a:ext cx="6204047" cy="4441149"/>
          </a:xfrm>
          <a:custGeom>
            <a:avLst/>
            <a:gdLst/>
            <a:ahLst/>
            <a:cxnLst/>
            <a:rect r="r" b="b" t="t" l="l"/>
            <a:pathLst>
              <a:path h="4441149" w="6204047">
                <a:moveTo>
                  <a:pt x="0" y="0"/>
                </a:moveTo>
                <a:lnTo>
                  <a:pt x="6204047" y="0"/>
                </a:lnTo>
                <a:lnTo>
                  <a:pt x="6204047" y="4441149"/>
                </a:lnTo>
                <a:lnTo>
                  <a:pt x="0" y="4441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69732" y="2986105"/>
            <a:ext cx="6102342" cy="4441149"/>
          </a:xfrm>
          <a:custGeom>
            <a:avLst/>
            <a:gdLst/>
            <a:ahLst/>
            <a:cxnLst/>
            <a:rect r="r" b="b" t="t" l="l"/>
            <a:pathLst>
              <a:path h="4441149" w="6102342">
                <a:moveTo>
                  <a:pt x="0" y="0"/>
                </a:moveTo>
                <a:lnTo>
                  <a:pt x="6102342" y="0"/>
                </a:lnTo>
                <a:lnTo>
                  <a:pt x="6102342" y="4441149"/>
                </a:lnTo>
                <a:lnTo>
                  <a:pt x="0" y="44411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37759" y="2972944"/>
            <a:ext cx="6120426" cy="4454310"/>
          </a:xfrm>
          <a:custGeom>
            <a:avLst/>
            <a:gdLst/>
            <a:ahLst/>
            <a:cxnLst/>
            <a:rect r="r" b="b" t="t" l="l"/>
            <a:pathLst>
              <a:path h="4454310" w="6120426">
                <a:moveTo>
                  <a:pt x="0" y="0"/>
                </a:moveTo>
                <a:lnTo>
                  <a:pt x="6120426" y="0"/>
                </a:lnTo>
                <a:lnTo>
                  <a:pt x="6120426" y="4454310"/>
                </a:lnTo>
                <a:lnTo>
                  <a:pt x="0" y="44543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933450"/>
            <a:ext cx="17963107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B) Class Distribution in Train ,Valida</a:t>
            </a:r>
            <a:r>
              <a:rPr lang="en-US" sz="5199" strike="noStrike" u="none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tion &amp; Testing Sets</a:t>
            </a:r>
          </a:p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7945498"/>
            <a:ext cx="15909705" cy="1889225"/>
            <a:chOff x="0" y="0"/>
            <a:chExt cx="4190210" cy="4975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90210" cy="497574"/>
            </a:xfrm>
            <a:custGeom>
              <a:avLst/>
              <a:gdLst/>
              <a:ahLst/>
              <a:cxnLst/>
              <a:rect r="r" b="b" t="t" l="l"/>
              <a:pathLst>
                <a:path h="497574" w="4190210">
                  <a:moveTo>
                    <a:pt x="16545" y="0"/>
                  </a:moveTo>
                  <a:lnTo>
                    <a:pt x="4173665" y="0"/>
                  </a:lnTo>
                  <a:cubicBezTo>
                    <a:pt x="4178053" y="0"/>
                    <a:pt x="4182261" y="1743"/>
                    <a:pt x="4185364" y="4846"/>
                  </a:cubicBezTo>
                  <a:cubicBezTo>
                    <a:pt x="4188467" y="7949"/>
                    <a:pt x="4190210" y="12157"/>
                    <a:pt x="4190210" y="16545"/>
                  </a:cubicBezTo>
                  <a:lnTo>
                    <a:pt x="4190210" y="481029"/>
                  </a:lnTo>
                  <a:cubicBezTo>
                    <a:pt x="4190210" y="490166"/>
                    <a:pt x="4182803" y="497574"/>
                    <a:pt x="4173665" y="497574"/>
                  </a:cubicBezTo>
                  <a:lnTo>
                    <a:pt x="16545" y="497574"/>
                  </a:lnTo>
                  <a:cubicBezTo>
                    <a:pt x="7407" y="497574"/>
                    <a:pt x="0" y="490166"/>
                    <a:pt x="0" y="481029"/>
                  </a:cubicBezTo>
                  <a:lnTo>
                    <a:pt x="0" y="16545"/>
                  </a:lnTo>
                  <a:cubicBezTo>
                    <a:pt x="0" y="7407"/>
                    <a:pt x="7407" y="0"/>
                    <a:pt x="1654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2DC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190210" cy="5356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21591" y="7979325"/>
            <a:ext cx="16198625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The dataset was split int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o 70% </a:t>
            </a: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training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, 15% </a:t>
            </a: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validation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, and 15% </a:t>
            </a: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testing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1591" y="8756565"/>
            <a:ext cx="15909705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The class dist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ributions shown above reveal a strong class imbalance across all splits, with the majority of customers belonging to the Not Churned (0) category.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8940" y="3987891"/>
            <a:ext cx="16710120" cy="5802365"/>
            <a:chOff x="0" y="0"/>
            <a:chExt cx="4401019" cy="15281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1019" cy="1528195"/>
            </a:xfrm>
            <a:custGeom>
              <a:avLst/>
              <a:gdLst/>
              <a:ahLst/>
              <a:cxnLst/>
              <a:rect r="r" b="b" t="t" l="l"/>
              <a:pathLst>
                <a:path h="1528195" w="4401019">
                  <a:moveTo>
                    <a:pt x="15752" y="0"/>
                  </a:moveTo>
                  <a:lnTo>
                    <a:pt x="4385267" y="0"/>
                  </a:lnTo>
                  <a:cubicBezTo>
                    <a:pt x="4389445" y="0"/>
                    <a:pt x="4393452" y="1660"/>
                    <a:pt x="4396406" y="4614"/>
                  </a:cubicBezTo>
                  <a:cubicBezTo>
                    <a:pt x="4399360" y="7568"/>
                    <a:pt x="4401019" y="11575"/>
                    <a:pt x="4401019" y="15752"/>
                  </a:cubicBezTo>
                  <a:lnTo>
                    <a:pt x="4401019" y="1512442"/>
                  </a:lnTo>
                  <a:cubicBezTo>
                    <a:pt x="4401019" y="1516620"/>
                    <a:pt x="4399360" y="1520627"/>
                    <a:pt x="4396406" y="1523581"/>
                  </a:cubicBezTo>
                  <a:cubicBezTo>
                    <a:pt x="4393452" y="1526535"/>
                    <a:pt x="4389445" y="1528195"/>
                    <a:pt x="4385267" y="1528195"/>
                  </a:cubicBezTo>
                  <a:lnTo>
                    <a:pt x="15752" y="1528195"/>
                  </a:lnTo>
                  <a:cubicBezTo>
                    <a:pt x="7053" y="1528195"/>
                    <a:pt x="0" y="1521142"/>
                    <a:pt x="0" y="1512442"/>
                  </a:cubicBezTo>
                  <a:lnTo>
                    <a:pt x="0" y="15752"/>
                  </a:lnTo>
                  <a:cubicBezTo>
                    <a:pt x="0" y="11575"/>
                    <a:pt x="1660" y="7568"/>
                    <a:pt x="4614" y="4614"/>
                  </a:cubicBezTo>
                  <a:cubicBezTo>
                    <a:pt x="7568" y="1660"/>
                    <a:pt x="11575" y="0"/>
                    <a:pt x="157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2DC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01019" cy="1566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5452665"/>
            <a:ext cx="16230600" cy="3805635"/>
          </a:xfrm>
          <a:custGeom>
            <a:avLst/>
            <a:gdLst/>
            <a:ahLst/>
            <a:cxnLst/>
            <a:rect r="r" b="b" t="t" l="l"/>
            <a:pathLst>
              <a:path h="3805635" w="16230600">
                <a:moveTo>
                  <a:pt x="0" y="0"/>
                </a:moveTo>
                <a:lnTo>
                  <a:pt x="16230600" y="0"/>
                </a:lnTo>
                <a:lnTo>
                  <a:pt x="16230600" y="3805635"/>
                </a:lnTo>
                <a:lnTo>
                  <a:pt x="0" y="3805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17" t="0" r="-1817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1455907"/>
            <a:ext cx="17554243" cy="189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C.1) Training Log</a:t>
            </a:r>
            <a:r>
              <a:rPr lang="en-US" sz="5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istic Regression with a linear decssion boundary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499178"/>
            <a:ext cx="1197213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we achieved from training logistic regression on  linear decision boundary :  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0602" y="7804092"/>
            <a:ext cx="699655" cy="69965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C3C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50429" y="2582222"/>
            <a:ext cx="15177269" cy="4477294"/>
          </a:xfrm>
          <a:custGeom>
            <a:avLst/>
            <a:gdLst/>
            <a:ahLst/>
            <a:cxnLst/>
            <a:rect r="r" b="b" t="t" l="l"/>
            <a:pathLst>
              <a:path h="4477294" w="15177269">
                <a:moveTo>
                  <a:pt x="0" y="0"/>
                </a:moveTo>
                <a:lnTo>
                  <a:pt x="15177269" y="0"/>
                </a:lnTo>
                <a:lnTo>
                  <a:pt x="15177269" y="4477294"/>
                </a:lnTo>
                <a:lnTo>
                  <a:pt x="0" y="4477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1196" y="401899"/>
            <a:ext cx="17765607" cy="287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C.2)  Logistic Regression with a non-linear decssion boundary using polynomial f</a:t>
            </a:r>
            <a:r>
              <a:rPr lang="en-US" sz="5499" strike="noStrike" u="none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eatures</a:t>
            </a:r>
          </a:p>
          <a:p>
            <a:pPr algn="ctr" marL="0" indent="0" lvl="0">
              <a:lnSpc>
                <a:spcPts val="76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355400" y="7765992"/>
            <a:ext cx="14572298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or each degree (2, 5, and 9), the number of generated polynomial features grows significantly.</a:t>
            </a:r>
          </a:p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Degree 2 → 27 features</a:t>
            </a:r>
          </a:p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Degree 5 → 461 features</a:t>
            </a:r>
          </a:p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Degree 9 → 5004 features</a:t>
            </a:r>
          </a:p>
          <a:p>
            <a:pPr algn="just">
              <a:lnSpc>
                <a:spcPts val="335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788940" y="2582222"/>
            <a:ext cx="16710120" cy="7208034"/>
            <a:chOff x="0" y="0"/>
            <a:chExt cx="4401019" cy="18984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01019" cy="1898412"/>
            </a:xfrm>
            <a:custGeom>
              <a:avLst/>
              <a:gdLst/>
              <a:ahLst/>
              <a:cxnLst/>
              <a:rect r="r" b="b" t="t" l="l"/>
              <a:pathLst>
                <a:path h="1898412" w="4401019">
                  <a:moveTo>
                    <a:pt x="15752" y="0"/>
                  </a:moveTo>
                  <a:lnTo>
                    <a:pt x="4385267" y="0"/>
                  </a:lnTo>
                  <a:cubicBezTo>
                    <a:pt x="4389445" y="0"/>
                    <a:pt x="4393452" y="1660"/>
                    <a:pt x="4396406" y="4614"/>
                  </a:cubicBezTo>
                  <a:cubicBezTo>
                    <a:pt x="4399360" y="7568"/>
                    <a:pt x="4401019" y="11575"/>
                    <a:pt x="4401019" y="15752"/>
                  </a:cubicBezTo>
                  <a:lnTo>
                    <a:pt x="4401019" y="1882660"/>
                  </a:lnTo>
                  <a:cubicBezTo>
                    <a:pt x="4401019" y="1886838"/>
                    <a:pt x="4399360" y="1890844"/>
                    <a:pt x="4396406" y="1893798"/>
                  </a:cubicBezTo>
                  <a:cubicBezTo>
                    <a:pt x="4393452" y="1896753"/>
                    <a:pt x="4389445" y="1898412"/>
                    <a:pt x="4385267" y="1898412"/>
                  </a:cubicBezTo>
                  <a:lnTo>
                    <a:pt x="15752" y="1898412"/>
                  </a:lnTo>
                  <a:cubicBezTo>
                    <a:pt x="7053" y="1898412"/>
                    <a:pt x="0" y="1891360"/>
                    <a:pt x="0" y="1882660"/>
                  </a:cubicBezTo>
                  <a:lnTo>
                    <a:pt x="0" y="15752"/>
                  </a:lnTo>
                  <a:cubicBezTo>
                    <a:pt x="0" y="11575"/>
                    <a:pt x="1660" y="7568"/>
                    <a:pt x="4614" y="4614"/>
                  </a:cubicBezTo>
                  <a:cubicBezTo>
                    <a:pt x="7568" y="1660"/>
                    <a:pt x="11575" y="0"/>
                    <a:pt x="157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2DC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401019" cy="1936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230329"/>
            <a:ext cx="10341047" cy="6027971"/>
          </a:xfrm>
          <a:custGeom>
            <a:avLst/>
            <a:gdLst/>
            <a:ahLst/>
            <a:cxnLst/>
            <a:rect r="r" b="b" t="t" l="l"/>
            <a:pathLst>
              <a:path h="6027971" w="10341047">
                <a:moveTo>
                  <a:pt x="0" y="0"/>
                </a:moveTo>
                <a:lnTo>
                  <a:pt x="10341047" y="0"/>
                </a:lnTo>
                <a:lnTo>
                  <a:pt x="10341047" y="6027971"/>
                </a:lnTo>
                <a:lnTo>
                  <a:pt x="0" y="60279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45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85381"/>
            <a:ext cx="16574674" cy="235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14"/>
              </a:lnSpc>
              <a:spcBef>
                <a:spcPct val="0"/>
              </a:spcBef>
            </a:pPr>
            <a:r>
              <a:rPr lang="en-US" sz="5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Cont... Validation</a:t>
            </a:r>
            <a:r>
              <a:rPr lang="en-US" sz="5499" strike="noStrike" u="none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 &amp; Test Accuracies vs Polynomial Degree </a:t>
            </a:r>
          </a:p>
          <a:p>
            <a:pPr algn="l" marL="0" indent="0" lvl="0">
              <a:lnSpc>
                <a:spcPts val="6214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655699" y="3391701"/>
            <a:ext cx="6918253" cy="386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9"/>
              </a:lnSpc>
              <a:spcBef>
                <a:spcPct val="0"/>
              </a:spcBef>
            </a:pPr>
            <a:r>
              <a:rPr lang="en-US" b="true" sz="2777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⭐ Overall C</a:t>
            </a:r>
            <a:r>
              <a:rPr lang="en-US" b="true" sz="2777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onclusion</a:t>
            </a:r>
          </a:p>
          <a:p>
            <a:pPr algn="ctr">
              <a:lnSpc>
                <a:spcPts val="3889"/>
              </a:lnSpc>
              <a:spcBef>
                <a:spcPct val="0"/>
              </a:spcBef>
            </a:pPr>
          </a:p>
          <a:p>
            <a:pPr algn="l" marL="599743" indent="-299871" lvl="1">
              <a:lnSpc>
                <a:spcPts val="3889"/>
              </a:lnSpc>
              <a:buFont typeface="Arial"/>
              <a:buChar char="•"/>
            </a:pPr>
            <a:r>
              <a:rPr lang="en-US" sz="2777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Degree 5 performs best overall.</a:t>
            </a:r>
          </a:p>
          <a:p>
            <a:pPr algn="l" marL="599743" indent="-299871" lvl="1">
              <a:lnSpc>
                <a:spcPts val="3889"/>
              </a:lnSpc>
              <a:buFont typeface="Arial"/>
              <a:buChar char="•"/>
            </a:pPr>
            <a:r>
              <a:rPr lang="en-US" sz="2777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 Degree 2 underfits; Degree 9 overfits.</a:t>
            </a:r>
          </a:p>
          <a:p>
            <a:pPr algn="l">
              <a:lnSpc>
                <a:spcPts val="3889"/>
              </a:lnSpc>
              <a:spcBef>
                <a:spcPct val="0"/>
              </a:spcBef>
            </a:pPr>
            <a:r>
              <a:rPr lang="en-US" sz="2777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 The optimal trade-off between complexity and generalization is achieved at Degree 5.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97576" y="2864974"/>
            <a:ext cx="17036922" cy="6758681"/>
            <a:chOff x="0" y="0"/>
            <a:chExt cx="4487091" cy="1780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87090" cy="1780064"/>
            </a:xfrm>
            <a:custGeom>
              <a:avLst/>
              <a:gdLst/>
              <a:ahLst/>
              <a:cxnLst/>
              <a:rect r="r" b="b" t="t" l="l"/>
              <a:pathLst>
                <a:path h="1780064" w="4487090">
                  <a:moveTo>
                    <a:pt x="15450" y="0"/>
                  </a:moveTo>
                  <a:lnTo>
                    <a:pt x="4471640" y="0"/>
                  </a:lnTo>
                  <a:cubicBezTo>
                    <a:pt x="4480173" y="0"/>
                    <a:pt x="4487090" y="6917"/>
                    <a:pt x="4487090" y="15450"/>
                  </a:cubicBezTo>
                  <a:lnTo>
                    <a:pt x="4487090" y="1764614"/>
                  </a:lnTo>
                  <a:cubicBezTo>
                    <a:pt x="4487090" y="1768711"/>
                    <a:pt x="4485463" y="1772641"/>
                    <a:pt x="4482565" y="1775539"/>
                  </a:cubicBezTo>
                  <a:cubicBezTo>
                    <a:pt x="4479668" y="1778436"/>
                    <a:pt x="4475738" y="1780064"/>
                    <a:pt x="4471640" y="1780064"/>
                  </a:cubicBezTo>
                  <a:lnTo>
                    <a:pt x="15450" y="1780064"/>
                  </a:lnTo>
                  <a:cubicBezTo>
                    <a:pt x="11353" y="1780064"/>
                    <a:pt x="7423" y="1778436"/>
                    <a:pt x="4525" y="1775539"/>
                  </a:cubicBezTo>
                  <a:cubicBezTo>
                    <a:pt x="1628" y="1772641"/>
                    <a:pt x="0" y="1768711"/>
                    <a:pt x="0" y="1764614"/>
                  </a:cubicBezTo>
                  <a:lnTo>
                    <a:pt x="0" y="15450"/>
                  </a:lnTo>
                  <a:cubicBezTo>
                    <a:pt x="0" y="11353"/>
                    <a:pt x="1628" y="7423"/>
                    <a:pt x="4525" y="4525"/>
                  </a:cubicBezTo>
                  <a:cubicBezTo>
                    <a:pt x="7423" y="1628"/>
                    <a:pt x="11353" y="0"/>
                    <a:pt x="154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2DC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487091" cy="1818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15879" y="2898187"/>
            <a:ext cx="9456243" cy="7388813"/>
          </a:xfrm>
          <a:custGeom>
            <a:avLst/>
            <a:gdLst/>
            <a:ahLst/>
            <a:cxnLst/>
            <a:rect r="r" b="b" t="t" l="l"/>
            <a:pathLst>
              <a:path h="7388813" w="9456243">
                <a:moveTo>
                  <a:pt x="0" y="0"/>
                </a:moveTo>
                <a:lnTo>
                  <a:pt x="9456242" y="0"/>
                </a:lnTo>
                <a:lnTo>
                  <a:pt x="9456242" y="7388813"/>
                </a:lnTo>
                <a:lnTo>
                  <a:pt x="0" y="7388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18071" y="1424951"/>
            <a:ext cx="14851859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699"/>
              </a:lnSpc>
            </a:pPr>
            <a:r>
              <a:rPr lang="en-US" sz="5499">
                <a:solidFill>
                  <a:srgbClr val="0A0147"/>
                </a:solidFill>
                <a:latin typeface="Open Sans"/>
                <a:ea typeface="Open Sans"/>
                <a:cs typeface="Open Sans"/>
                <a:sym typeface="Open Sans"/>
              </a:rPr>
              <a:t>Validation Accuracy vs. Polynomial Degree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615185" y="3730690"/>
            <a:ext cx="5745712" cy="6556310"/>
          </a:xfrm>
          <a:custGeom>
            <a:avLst/>
            <a:gdLst/>
            <a:ahLst/>
            <a:cxnLst/>
            <a:rect r="r" b="b" t="t" l="l"/>
            <a:pathLst>
              <a:path h="6556310" w="5745712">
                <a:moveTo>
                  <a:pt x="0" y="0"/>
                </a:moveTo>
                <a:lnTo>
                  <a:pt x="5745711" y="0"/>
                </a:lnTo>
                <a:lnTo>
                  <a:pt x="5745711" y="6556310"/>
                </a:lnTo>
                <a:lnTo>
                  <a:pt x="0" y="65563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42355" y="2763359"/>
            <a:ext cx="10403291" cy="7523641"/>
          </a:xfrm>
          <a:custGeom>
            <a:avLst/>
            <a:gdLst/>
            <a:ahLst/>
            <a:cxnLst/>
            <a:rect r="r" b="b" t="t" l="l"/>
            <a:pathLst>
              <a:path h="7523641" w="10403291">
                <a:moveTo>
                  <a:pt x="0" y="0"/>
                </a:moveTo>
                <a:lnTo>
                  <a:pt x="10403290" y="0"/>
                </a:lnTo>
                <a:lnTo>
                  <a:pt x="10403290" y="7523641"/>
                </a:lnTo>
                <a:lnTo>
                  <a:pt x="0" y="7523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724" r="0" b="-572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28261" y="1453312"/>
            <a:ext cx="13431479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699"/>
              </a:lnSpc>
            </a:pPr>
            <a:r>
              <a:rPr lang="en-US" sz="5499">
                <a:solidFill>
                  <a:srgbClr val="0A0147"/>
                </a:solidFill>
                <a:latin typeface="Open Sans"/>
                <a:ea typeface="Open Sans"/>
                <a:cs typeface="Open Sans"/>
                <a:sym typeface="Open Sans"/>
              </a:rPr>
              <a:t>Test</a:t>
            </a:r>
            <a:r>
              <a:rPr lang="en-US" sz="5499">
                <a:solidFill>
                  <a:srgbClr val="0A0147"/>
                </a:solidFill>
                <a:latin typeface="Open Sans"/>
                <a:ea typeface="Open Sans"/>
                <a:cs typeface="Open Sans"/>
                <a:sym typeface="Open Sans"/>
              </a:rPr>
              <a:t> Accuracy vs. Polynomial Degree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353602" y="3730690"/>
            <a:ext cx="5745712" cy="6556310"/>
          </a:xfrm>
          <a:custGeom>
            <a:avLst/>
            <a:gdLst/>
            <a:ahLst/>
            <a:cxnLst/>
            <a:rect r="r" b="b" t="t" l="l"/>
            <a:pathLst>
              <a:path h="6556310" w="5745712">
                <a:moveTo>
                  <a:pt x="0" y="0"/>
                </a:moveTo>
                <a:lnTo>
                  <a:pt x="5745712" y="0"/>
                </a:lnTo>
                <a:lnTo>
                  <a:pt x="5745712" y="6556310"/>
                </a:lnTo>
                <a:lnTo>
                  <a:pt x="0" y="65563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715895" y="4632325"/>
            <a:ext cx="21719790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Model comparison &amp; evaluation metrics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02612" y="4761206"/>
            <a:ext cx="771999" cy="771999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1C3C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16005" y="4750775"/>
            <a:ext cx="545211" cy="66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1"/>
              </a:lnSpc>
            </a:pPr>
            <a:r>
              <a:rPr lang="en-US" sz="3554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436030"/>
            <a:ext cx="16230600" cy="4585144"/>
          </a:xfrm>
          <a:custGeom>
            <a:avLst/>
            <a:gdLst/>
            <a:ahLst/>
            <a:cxnLst/>
            <a:rect r="r" b="b" t="t" l="l"/>
            <a:pathLst>
              <a:path h="4585144" w="16230600">
                <a:moveTo>
                  <a:pt x="0" y="0"/>
                </a:moveTo>
                <a:lnTo>
                  <a:pt x="16230600" y="0"/>
                </a:lnTo>
                <a:lnTo>
                  <a:pt x="16230600" y="4585144"/>
                </a:lnTo>
                <a:lnTo>
                  <a:pt x="0" y="4585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2676" y="933450"/>
            <a:ext cx="13721206" cy="287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699"/>
              </a:lnSpc>
            </a:pPr>
            <a:r>
              <a:rPr lang="en-US" sz="5499">
                <a:solidFill>
                  <a:srgbClr val="0A0147"/>
                </a:solidFill>
                <a:latin typeface="Open Sans"/>
                <a:ea typeface="Open Sans"/>
                <a:cs typeface="Open Sans"/>
                <a:sym typeface="Open Sans"/>
              </a:rPr>
              <a:t>D) Compreh</a:t>
            </a:r>
            <a:r>
              <a:rPr lang="en-US" sz="5499">
                <a:solidFill>
                  <a:srgbClr val="0A0147"/>
                </a:solidFill>
                <a:latin typeface="Open Sans"/>
                <a:ea typeface="Open Sans"/>
                <a:cs typeface="Open Sans"/>
                <a:sym typeface="Open Sans"/>
              </a:rPr>
              <a:t>ensive Model Evaluation with</a:t>
            </a:r>
            <a:r>
              <a:rPr lang="en-US" sz="5499">
                <a:solidFill>
                  <a:srgbClr val="0A0147"/>
                </a:solidFill>
                <a:latin typeface="Open Sans"/>
                <a:ea typeface="Open Sans"/>
                <a:cs typeface="Open Sans"/>
                <a:sym typeface="Open Sans"/>
              </a:rPr>
              <a:t> Accuracy, Precision, and Recall</a:t>
            </a:r>
          </a:p>
          <a:p>
            <a:pPr algn="ctr" rtl="true">
              <a:lnSpc>
                <a:spcPts val="76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65550"/>
            <a:ext cx="502507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D.1) Comprehensive Results Table</a:t>
            </a:r>
          </a:p>
        </p:txBody>
      </p:sp>
      <p:sp>
        <p:nvSpPr>
          <p:cNvPr name="AutoShape 6" id="6"/>
          <p:cNvSpPr/>
          <p:nvPr/>
        </p:nvSpPr>
        <p:spPr>
          <a:xfrm>
            <a:off x="260747" y="8107573"/>
            <a:ext cx="17637870" cy="0"/>
          </a:xfrm>
          <a:prstGeom prst="line">
            <a:avLst/>
          </a:prstGeom>
          <a:ln cap="flat" w="47625">
            <a:solidFill>
              <a:srgbClr val="E25C50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7" id="7"/>
          <p:cNvSpPr/>
          <p:nvPr/>
        </p:nvSpPr>
        <p:spPr>
          <a:xfrm>
            <a:off x="260747" y="7311469"/>
            <a:ext cx="17637870" cy="0"/>
          </a:xfrm>
          <a:prstGeom prst="line">
            <a:avLst/>
          </a:prstGeom>
          <a:ln cap="flat" w="47625">
            <a:solidFill>
              <a:srgbClr val="E25C50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279792" y="7311925"/>
            <a:ext cx="19050" cy="796103"/>
          </a:xfrm>
          <a:prstGeom prst="line">
            <a:avLst/>
          </a:prstGeom>
          <a:ln cap="flat" w="38100">
            <a:solidFill>
              <a:srgbClr val="E25C50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17860522" y="7312381"/>
            <a:ext cx="19050" cy="796103"/>
          </a:xfrm>
          <a:prstGeom prst="line">
            <a:avLst/>
          </a:prstGeom>
          <a:ln cap="flat" w="38100">
            <a:solidFill>
              <a:srgbClr val="E25C50"/>
            </a:solidFill>
            <a:prstDash val="solid"/>
            <a:headEnd type="diamond" len="lg" w="lg"/>
            <a:tailEnd type="diamond" len="lg" w="lg"/>
          </a:ln>
        </p:spPr>
      </p: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876" y="2427550"/>
            <a:ext cx="15348249" cy="7463086"/>
          </a:xfrm>
          <a:custGeom>
            <a:avLst/>
            <a:gdLst/>
            <a:ahLst/>
            <a:cxnLst/>
            <a:rect r="r" b="b" t="t" l="l"/>
            <a:pathLst>
              <a:path h="7463086" w="15348249">
                <a:moveTo>
                  <a:pt x="0" y="0"/>
                </a:moveTo>
                <a:lnTo>
                  <a:pt x="15348248" y="0"/>
                </a:lnTo>
                <a:lnTo>
                  <a:pt x="15348248" y="7463085"/>
                </a:lnTo>
                <a:lnTo>
                  <a:pt x="0" y="74630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6556" y="1749981"/>
            <a:ext cx="11558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D.2) Training, Validation &amp; Test Accuracy for Linear and Polynomial Models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88940" y="643222"/>
            <a:ext cx="16710120" cy="9147034"/>
            <a:chOff x="0" y="0"/>
            <a:chExt cx="4401019" cy="24090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01019" cy="2409095"/>
            </a:xfrm>
            <a:custGeom>
              <a:avLst/>
              <a:gdLst/>
              <a:ahLst/>
              <a:cxnLst/>
              <a:rect r="r" b="b" t="t" l="l"/>
              <a:pathLst>
                <a:path h="2409095" w="4401019">
                  <a:moveTo>
                    <a:pt x="15752" y="0"/>
                  </a:moveTo>
                  <a:lnTo>
                    <a:pt x="4385267" y="0"/>
                  </a:lnTo>
                  <a:cubicBezTo>
                    <a:pt x="4389445" y="0"/>
                    <a:pt x="4393452" y="1660"/>
                    <a:pt x="4396406" y="4614"/>
                  </a:cubicBezTo>
                  <a:cubicBezTo>
                    <a:pt x="4399360" y="7568"/>
                    <a:pt x="4401019" y="11575"/>
                    <a:pt x="4401019" y="15752"/>
                  </a:cubicBezTo>
                  <a:lnTo>
                    <a:pt x="4401019" y="2393343"/>
                  </a:lnTo>
                  <a:cubicBezTo>
                    <a:pt x="4401019" y="2402043"/>
                    <a:pt x="4393967" y="2409095"/>
                    <a:pt x="4385267" y="2409095"/>
                  </a:cubicBezTo>
                  <a:lnTo>
                    <a:pt x="15752" y="2409095"/>
                  </a:lnTo>
                  <a:cubicBezTo>
                    <a:pt x="7053" y="2409095"/>
                    <a:pt x="0" y="2402043"/>
                    <a:pt x="0" y="2393343"/>
                  </a:cubicBezTo>
                  <a:lnTo>
                    <a:pt x="0" y="15752"/>
                  </a:lnTo>
                  <a:cubicBezTo>
                    <a:pt x="0" y="11575"/>
                    <a:pt x="1660" y="7568"/>
                    <a:pt x="4614" y="4614"/>
                  </a:cubicBezTo>
                  <a:cubicBezTo>
                    <a:pt x="7568" y="1660"/>
                    <a:pt x="11575" y="0"/>
                    <a:pt x="157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2DC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401019" cy="2447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8940" y="729400"/>
            <a:ext cx="16710120" cy="9060856"/>
            <a:chOff x="0" y="0"/>
            <a:chExt cx="4401019" cy="23863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1019" cy="2386398"/>
            </a:xfrm>
            <a:custGeom>
              <a:avLst/>
              <a:gdLst/>
              <a:ahLst/>
              <a:cxnLst/>
              <a:rect r="r" b="b" t="t" l="l"/>
              <a:pathLst>
                <a:path h="2386398" w="4401019">
                  <a:moveTo>
                    <a:pt x="15752" y="0"/>
                  </a:moveTo>
                  <a:lnTo>
                    <a:pt x="4385267" y="0"/>
                  </a:lnTo>
                  <a:cubicBezTo>
                    <a:pt x="4389445" y="0"/>
                    <a:pt x="4393452" y="1660"/>
                    <a:pt x="4396406" y="4614"/>
                  </a:cubicBezTo>
                  <a:cubicBezTo>
                    <a:pt x="4399360" y="7568"/>
                    <a:pt x="4401019" y="11575"/>
                    <a:pt x="4401019" y="15752"/>
                  </a:cubicBezTo>
                  <a:lnTo>
                    <a:pt x="4401019" y="2370646"/>
                  </a:lnTo>
                  <a:cubicBezTo>
                    <a:pt x="4401019" y="2379346"/>
                    <a:pt x="4393967" y="2386398"/>
                    <a:pt x="4385267" y="2386398"/>
                  </a:cubicBezTo>
                  <a:lnTo>
                    <a:pt x="15752" y="2386398"/>
                  </a:lnTo>
                  <a:cubicBezTo>
                    <a:pt x="7053" y="2386398"/>
                    <a:pt x="0" y="2379346"/>
                    <a:pt x="0" y="2370646"/>
                  </a:cubicBezTo>
                  <a:lnTo>
                    <a:pt x="0" y="15752"/>
                  </a:lnTo>
                  <a:cubicBezTo>
                    <a:pt x="0" y="11575"/>
                    <a:pt x="1660" y="7568"/>
                    <a:pt x="4614" y="4614"/>
                  </a:cubicBezTo>
                  <a:cubicBezTo>
                    <a:pt x="7568" y="1660"/>
                    <a:pt x="11575" y="0"/>
                    <a:pt x="157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2DC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01019" cy="2424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619695">
            <a:off x="16189649" y="542100"/>
            <a:ext cx="1787136" cy="1800229"/>
          </a:xfrm>
          <a:custGeom>
            <a:avLst/>
            <a:gdLst/>
            <a:ahLst/>
            <a:cxnLst/>
            <a:rect r="r" b="b" t="t" l="l"/>
            <a:pathLst>
              <a:path h="1800229" w="1787136">
                <a:moveTo>
                  <a:pt x="0" y="0"/>
                </a:moveTo>
                <a:lnTo>
                  <a:pt x="1787136" y="0"/>
                </a:lnTo>
                <a:lnTo>
                  <a:pt x="1787136" y="1800228"/>
                </a:lnTo>
                <a:lnTo>
                  <a:pt x="0" y="18002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310337" y="3441805"/>
            <a:ext cx="15667326" cy="5816495"/>
          </a:xfrm>
          <a:custGeom>
            <a:avLst/>
            <a:gdLst/>
            <a:ahLst/>
            <a:cxnLst/>
            <a:rect r="r" b="b" t="t" l="l"/>
            <a:pathLst>
              <a:path h="5816495" w="15667326">
                <a:moveTo>
                  <a:pt x="0" y="0"/>
                </a:moveTo>
                <a:lnTo>
                  <a:pt x="15667326" y="0"/>
                </a:lnTo>
                <a:lnTo>
                  <a:pt x="15667326" y="5816495"/>
                </a:lnTo>
                <a:lnTo>
                  <a:pt x="0" y="58164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2611759"/>
            <a:ext cx="11558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D.3) Precision and Recall Across Train, Validation, and Test Sets</a:t>
            </a:r>
          </a:p>
        </p:txBody>
      </p:sp>
    </p:spTree>
  </p:cSld>
  <p:clrMapOvr>
    <a:masterClrMapping/>
  </p:clrMapOvr>
  <p:transition spd="slow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5062" y="1701165"/>
            <a:ext cx="16494238" cy="3051434"/>
          </a:xfrm>
          <a:custGeom>
            <a:avLst/>
            <a:gdLst/>
            <a:ahLst/>
            <a:cxnLst/>
            <a:rect r="r" b="b" t="t" l="l"/>
            <a:pathLst>
              <a:path h="3051434" w="16494238">
                <a:moveTo>
                  <a:pt x="0" y="0"/>
                </a:moveTo>
                <a:lnTo>
                  <a:pt x="16494238" y="0"/>
                </a:lnTo>
                <a:lnTo>
                  <a:pt x="16494238" y="3051434"/>
                </a:lnTo>
                <a:lnTo>
                  <a:pt x="0" y="3051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5062" y="990600"/>
            <a:ext cx="115584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D.4) Model Stability and Overfitting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5062" y="5027792"/>
            <a:ext cx="17522938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⭐ Overall Conclusion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Degree 5 provides the best balance between accuracy and generalization.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Increasing complexity beyond degree 5 (e.g., degree 9) does not improve performance and brings diminishing returns.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589224" y="5873612"/>
            <a:ext cx="5698776" cy="5657330"/>
          </a:xfrm>
          <a:custGeom>
            <a:avLst/>
            <a:gdLst/>
            <a:ahLst/>
            <a:cxnLst/>
            <a:rect r="r" b="b" t="t" l="l"/>
            <a:pathLst>
              <a:path h="5657330" w="5698776">
                <a:moveTo>
                  <a:pt x="0" y="0"/>
                </a:moveTo>
                <a:lnTo>
                  <a:pt x="5698776" y="0"/>
                </a:lnTo>
                <a:lnTo>
                  <a:pt x="5698776" y="5657330"/>
                </a:lnTo>
                <a:lnTo>
                  <a:pt x="0" y="56573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slow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7925" y="2180145"/>
            <a:ext cx="9282576" cy="7078155"/>
          </a:xfrm>
          <a:custGeom>
            <a:avLst/>
            <a:gdLst/>
            <a:ahLst/>
            <a:cxnLst/>
            <a:rect r="r" b="b" t="t" l="l"/>
            <a:pathLst>
              <a:path h="7078155" w="9282576">
                <a:moveTo>
                  <a:pt x="0" y="0"/>
                </a:moveTo>
                <a:lnTo>
                  <a:pt x="9282576" y="0"/>
                </a:lnTo>
                <a:lnTo>
                  <a:pt x="9282576" y="7078155"/>
                </a:lnTo>
                <a:lnTo>
                  <a:pt x="0" y="70781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44" r="0" b="-24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6240" y="1456747"/>
            <a:ext cx="11558415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D.5) Best Model Selection and ROC Curve Analysis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780501" y="2180145"/>
            <a:ext cx="8009574" cy="7078155"/>
          </a:xfrm>
          <a:custGeom>
            <a:avLst/>
            <a:gdLst/>
            <a:ahLst/>
            <a:cxnLst/>
            <a:rect r="r" b="b" t="t" l="l"/>
            <a:pathLst>
              <a:path h="7078155" w="8009574">
                <a:moveTo>
                  <a:pt x="0" y="0"/>
                </a:moveTo>
                <a:lnTo>
                  <a:pt x="8009574" y="0"/>
                </a:lnTo>
                <a:lnTo>
                  <a:pt x="8009574" y="7078155"/>
                </a:lnTo>
                <a:lnTo>
                  <a:pt x="0" y="70781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67132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715895" y="4632325"/>
            <a:ext cx="21719790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Conclusions and lessons learned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539333" y="4761206"/>
            <a:ext cx="771999" cy="771999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1C3C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652727" y="4750775"/>
            <a:ext cx="545211" cy="66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1"/>
              </a:lnSpc>
            </a:pPr>
            <a:r>
              <a:rPr lang="en-US" sz="3554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  <p:transition spd="slow">
    <p:push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76300" y="1379176"/>
            <a:ext cx="8604600" cy="3764324"/>
            <a:chOff x="0" y="0"/>
            <a:chExt cx="2266232" cy="9914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66232" cy="991427"/>
            </a:xfrm>
            <a:custGeom>
              <a:avLst/>
              <a:gdLst/>
              <a:ahLst/>
              <a:cxnLst/>
              <a:rect r="r" b="b" t="t" l="l"/>
              <a:pathLst>
                <a:path h="991427" w="2266232">
                  <a:moveTo>
                    <a:pt x="30591" y="0"/>
                  </a:moveTo>
                  <a:lnTo>
                    <a:pt x="2235641" y="0"/>
                  </a:lnTo>
                  <a:cubicBezTo>
                    <a:pt x="2243754" y="0"/>
                    <a:pt x="2251535" y="3223"/>
                    <a:pt x="2257272" y="8960"/>
                  </a:cubicBezTo>
                  <a:cubicBezTo>
                    <a:pt x="2263009" y="14697"/>
                    <a:pt x="2266232" y="22478"/>
                    <a:pt x="2266232" y="30591"/>
                  </a:cubicBezTo>
                  <a:lnTo>
                    <a:pt x="2266232" y="960836"/>
                  </a:lnTo>
                  <a:cubicBezTo>
                    <a:pt x="2266232" y="968949"/>
                    <a:pt x="2263009" y="976730"/>
                    <a:pt x="2257272" y="982467"/>
                  </a:cubicBezTo>
                  <a:cubicBezTo>
                    <a:pt x="2251535" y="988204"/>
                    <a:pt x="2243754" y="991427"/>
                    <a:pt x="2235641" y="991427"/>
                  </a:cubicBezTo>
                  <a:lnTo>
                    <a:pt x="30591" y="991427"/>
                  </a:lnTo>
                  <a:cubicBezTo>
                    <a:pt x="22478" y="991427"/>
                    <a:pt x="14697" y="988204"/>
                    <a:pt x="8960" y="982467"/>
                  </a:cubicBezTo>
                  <a:cubicBezTo>
                    <a:pt x="3223" y="976730"/>
                    <a:pt x="0" y="968949"/>
                    <a:pt x="0" y="960836"/>
                  </a:cubicBezTo>
                  <a:lnTo>
                    <a:pt x="0" y="30591"/>
                  </a:lnTo>
                  <a:cubicBezTo>
                    <a:pt x="0" y="22478"/>
                    <a:pt x="3223" y="14697"/>
                    <a:pt x="8960" y="8960"/>
                  </a:cubicBezTo>
                  <a:cubicBezTo>
                    <a:pt x="14697" y="3223"/>
                    <a:pt x="22478" y="0"/>
                    <a:pt x="3059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2DC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66232" cy="1029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316227" y="2691765"/>
            <a:ext cx="6236329" cy="2451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pc="48">
                <a:solidFill>
                  <a:srgbClr val="0A01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Polyn</a:t>
            </a:r>
            <a:r>
              <a:rPr lang="en-US" b="true" sz="2400" spc="48">
                <a:solidFill>
                  <a:srgbClr val="0A01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omial and RBF features showed how increasing model flexibility can dramatically change predictions.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pc="48">
                <a:solidFill>
                  <a:srgbClr val="0A01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But flexibility must be controlled Ridge regularization and careful feature selection are essential.</a:t>
            </a:r>
          </a:p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482170" y="7099593"/>
            <a:ext cx="5917986" cy="2451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pc="48">
                <a:solidFill>
                  <a:srgbClr val="0A01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Handling missing v</a:t>
            </a:r>
            <a:r>
              <a:rPr lang="en-US" b="true" sz="2400" spc="48">
                <a:solidFill>
                  <a:srgbClr val="0A01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alues, outliers, and feature scaling had a direct impact on model stability and accuracy.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pc="48">
                <a:solidFill>
                  <a:srgbClr val="0A01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Clean data → better learning → stronger generalization.</a:t>
            </a:r>
          </a:p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710357" y="1331974"/>
            <a:ext cx="1605870" cy="1641768"/>
            <a:chOff x="0" y="0"/>
            <a:chExt cx="2141159" cy="2189024"/>
          </a:xfrm>
        </p:grpSpPr>
        <p:sp>
          <p:nvSpPr>
            <p:cNvPr name="Freeform 9" id="9"/>
            <p:cNvSpPr/>
            <p:nvPr/>
          </p:nvSpPr>
          <p:spPr>
            <a:xfrm flipH="false" flipV="false" rot="-3666232">
              <a:off x="243336" y="328277"/>
              <a:ext cx="1654488" cy="1532469"/>
            </a:xfrm>
            <a:custGeom>
              <a:avLst/>
              <a:gdLst/>
              <a:ahLst/>
              <a:cxnLst/>
              <a:rect r="r" b="b" t="t" l="l"/>
              <a:pathLst>
                <a:path h="1532469" w="1654488">
                  <a:moveTo>
                    <a:pt x="0" y="0"/>
                  </a:moveTo>
                  <a:lnTo>
                    <a:pt x="1654488" y="0"/>
                  </a:lnTo>
                  <a:lnTo>
                    <a:pt x="1654488" y="1532470"/>
                  </a:lnTo>
                  <a:lnTo>
                    <a:pt x="0" y="1532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713454" y="546659"/>
              <a:ext cx="833728" cy="1132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471"/>
                </a:lnSpc>
                <a:spcBef>
                  <a:spcPct val="0"/>
                </a:spcBef>
              </a:pPr>
              <a:r>
                <a:rPr lang="en-US" b="true" sz="5883" spc="117">
                  <a:solidFill>
                    <a:srgbClr val="F8F1E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33300" y="1379176"/>
            <a:ext cx="8213162" cy="3764324"/>
            <a:chOff x="0" y="0"/>
            <a:chExt cx="2163137" cy="9914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63137" cy="991427"/>
            </a:xfrm>
            <a:custGeom>
              <a:avLst/>
              <a:gdLst/>
              <a:ahLst/>
              <a:cxnLst/>
              <a:rect r="r" b="b" t="t" l="l"/>
              <a:pathLst>
                <a:path h="991427" w="2163137">
                  <a:moveTo>
                    <a:pt x="32049" y="0"/>
                  </a:moveTo>
                  <a:lnTo>
                    <a:pt x="2131088" y="0"/>
                  </a:lnTo>
                  <a:cubicBezTo>
                    <a:pt x="2139588" y="0"/>
                    <a:pt x="2147740" y="3377"/>
                    <a:pt x="2153750" y="9387"/>
                  </a:cubicBezTo>
                  <a:cubicBezTo>
                    <a:pt x="2159761" y="15397"/>
                    <a:pt x="2163137" y="23549"/>
                    <a:pt x="2163137" y="32049"/>
                  </a:cubicBezTo>
                  <a:lnTo>
                    <a:pt x="2163137" y="959378"/>
                  </a:lnTo>
                  <a:cubicBezTo>
                    <a:pt x="2163137" y="977078"/>
                    <a:pt x="2148788" y="991427"/>
                    <a:pt x="2131088" y="991427"/>
                  </a:cubicBezTo>
                  <a:lnTo>
                    <a:pt x="32049" y="991427"/>
                  </a:lnTo>
                  <a:cubicBezTo>
                    <a:pt x="14349" y="991427"/>
                    <a:pt x="0" y="977078"/>
                    <a:pt x="0" y="959378"/>
                  </a:cubicBezTo>
                  <a:lnTo>
                    <a:pt x="0" y="32049"/>
                  </a:lnTo>
                  <a:cubicBezTo>
                    <a:pt x="0" y="14349"/>
                    <a:pt x="14349" y="0"/>
                    <a:pt x="320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2DC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63137" cy="1029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33300" y="1379176"/>
            <a:ext cx="1605870" cy="1641768"/>
            <a:chOff x="0" y="0"/>
            <a:chExt cx="2141159" cy="2189024"/>
          </a:xfrm>
        </p:grpSpPr>
        <p:sp>
          <p:nvSpPr>
            <p:cNvPr name="Freeform 15" id="15"/>
            <p:cNvSpPr/>
            <p:nvPr/>
          </p:nvSpPr>
          <p:spPr>
            <a:xfrm flipH="false" flipV="false" rot="-3666232">
              <a:off x="243336" y="328277"/>
              <a:ext cx="1654488" cy="1532469"/>
            </a:xfrm>
            <a:custGeom>
              <a:avLst/>
              <a:gdLst/>
              <a:ahLst/>
              <a:cxnLst/>
              <a:rect r="r" b="b" t="t" l="l"/>
              <a:pathLst>
                <a:path h="1532469" w="1654488">
                  <a:moveTo>
                    <a:pt x="0" y="0"/>
                  </a:moveTo>
                  <a:lnTo>
                    <a:pt x="1654488" y="0"/>
                  </a:lnTo>
                  <a:lnTo>
                    <a:pt x="1654488" y="1532470"/>
                  </a:lnTo>
                  <a:lnTo>
                    <a:pt x="0" y="1532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713454" y="546659"/>
              <a:ext cx="833728" cy="1132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471"/>
                </a:lnSpc>
                <a:spcBef>
                  <a:spcPct val="0"/>
                </a:spcBef>
              </a:pPr>
              <a:r>
                <a:rPr lang="en-US" b="true" sz="5883" spc="117">
                  <a:solidFill>
                    <a:srgbClr val="F8F1E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6300" y="5410200"/>
            <a:ext cx="1605870" cy="1641768"/>
            <a:chOff x="0" y="0"/>
            <a:chExt cx="2141159" cy="2189024"/>
          </a:xfrm>
        </p:grpSpPr>
        <p:sp>
          <p:nvSpPr>
            <p:cNvPr name="Freeform 18" id="18"/>
            <p:cNvSpPr/>
            <p:nvPr/>
          </p:nvSpPr>
          <p:spPr>
            <a:xfrm flipH="false" flipV="false" rot="-3666232">
              <a:off x="243336" y="328277"/>
              <a:ext cx="1654488" cy="1532469"/>
            </a:xfrm>
            <a:custGeom>
              <a:avLst/>
              <a:gdLst/>
              <a:ahLst/>
              <a:cxnLst/>
              <a:rect r="r" b="b" t="t" l="l"/>
              <a:pathLst>
                <a:path h="1532469" w="1654488">
                  <a:moveTo>
                    <a:pt x="0" y="0"/>
                  </a:moveTo>
                  <a:lnTo>
                    <a:pt x="1654488" y="0"/>
                  </a:lnTo>
                  <a:lnTo>
                    <a:pt x="1654488" y="1532470"/>
                  </a:lnTo>
                  <a:lnTo>
                    <a:pt x="0" y="1532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713454" y="546659"/>
              <a:ext cx="833728" cy="1132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471"/>
                </a:lnSpc>
                <a:spcBef>
                  <a:spcPct val="0"/>
                </a:spcBef>
              </a:pPr>
              <a:r>
                <a:rPr lang="en-US" b="true" sz="5883" spc="117">
                  <a:solidFill>
                    <a:srgbClr val="F8F1E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33300" y="5598606"/>
            <a:ext cx="8213162" cy="4158377"/>
            <a:chOff x="0" y="0"/>
            <a:chExt cx="2163137" cy="10952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63137" cy="1095210"/>
            </a:xfrm>
            <a:custGeom>
              <a:avLst/>
              <a:gdLst/>
              <a:ahLst/>
              <a:cxnLst/>
              <a:rect r="r" b="b" t="t" l="l"/>
              <a:pathLst>
                <a:path h="1095210" w="2163137">
                  <a:moveTo>
                    <a:pt x="32049" y="0"/>
                  </a:moveTo>
                  <a:lnTo>
                    <a:pt x="2131088" y="0"/>
                  </a:lnTo>
                  <a:cubicBezTo>
                    <a:pt x="2139588" y="0"/>
                    <a:pt x="2147740" y="3377"/>
                    <a:pt x="2153750" y="9387"/>
                  </a:cubicBezTo>
                  <a:cubicBezTo>
                    <a:pt x="2159761" y="15397"/>
                    <a:pt x="2163137" y="23549"/>
                    <a:pt x="2163137" y="32049"/>
                  </a:cubicBezTo>
                  <a:lnTo>
                    <a:pt x="2163137" y="1063161"/>
                  </a:lnTo>
                  <a:cubicBezTo>
                    <a:pt x="2163137" y="1080861"/>
                    <a:pt x="2148788" y="1095210"/>
                    <a:pt x="2131088" y="1095210"/>
                  </a:cubicBezTo>
                  <a:lnTo>
                    <a:pt x="32049" y="1095210"/>
                  </a:lnTo>
                  <a:cubicBezTo>
                    <a:pt x="14349" y="1095210"/>
                    <a:pt x="0" y="1080861"/>
                    <a:pt x="0" y="1063161"/>
                  </a:cubicBezTo>
                  <a:lnTo>
                    <a:pt x="0" y="32049"/>
                  </a:lnTo>
                  <a:cubicBezTo>
                    <a:pt x="0" y="14349"/>
                    <a:pt x="14349" y="0"/>
                    <a:pt x="320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2DCFF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63137" cy="1133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18486" y="5619750"/>
            <a:ext cx="1605870" cy="1641768"/>
            <a:chOff x="0" y="0"/>
            <a:chExt cx="2141159" cy="2189024"/>
          </a:xfrm>
        </p:grpSpPr>
        <p:sp>
          <p:nvSpPr>
            <p:cNvPr name="Freeform 24" id="24"/>
            <p:cNvSpPr/>
            <p:nvPr/>
          </p:nvSpPr>
          <p:spPr>
            <a:xfrm flipH="false" flipV="false" rot="-3666232">
              <a:off x="243336" y="328277"/>
              <a:ext cx="1654488" cy="1532469"/>
            </a:xfrm>
            <a:custGeom>
              <a:avLst/>
              <a:gdLst/>
              <a:ahLst/>
              <a:cxnLst/>
              <a:rect r="r" b="b" t="t" l="l"/>
              <a:pathLst>
                <a:path h="1532469" w="1654488">
                  <a:moveTo>
                    <a:pt x="0" y="0"/>
                  </a:moveTo>
                  <a:lnTo>
                    <a:pt x="1654488" y="0"/>
                  </a:lnTo>
                  <a:lnTo>
                    <a:pt x="1654488" y="1532470"/>
                  </a:lnTo>
                  <a:lnTo>
                    <a:pt x="0" y="1532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713454" y="546659"/>
              <a:ext cx="833728" cy="1132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471"/>
                </a:lnSpc>
                <a:spcBef>
                  <a:spcPct val="0"/>
                </a:spcBef>
              </a:pPr>
              <a:r>
                <a:rPr lang="en-US" b="true" sz="5883" spc="117">
                  <a:solidFill>
                    <a:srgbClr val="F8F1E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468627" y="1952833"/>
            <a:ext cx="667537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power of non-linear modeling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82170" y="6031059"/>
            <a:ext cx="7939251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importance of proper </a:t>
            </a:r>
          </a:p>
          <a:p>
            <a:pPr algn="just">
              <a:lnSpc>
                <a:spcPts val="33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preprocessing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88940" y="5598606"/>
            <a:ext cx="8691960" cy="4158377"/>
            <a:chOff x="0" y="0"/>
            <a:chExt cx="2289241" cy="10952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89240" cy="1095210"/>
            </a:xfrm>
            <a:custGeom>
              <a:avLst/>
              <a:gdLst/>
              <a:ahLst/>
              <a:cxnLst/>
              <a:rect r="r" b="b" t="t" l="l"/>
              <a:pathLst>
                <a:path h="1095210" w="2289240">
                  <a:moveTo>
                    <a:pt x="30284" y="0"/>
                  </a:moveTo>
                  <a:lnTo>
                    <a:pt x="2258957" y="0"/>
                  </a:lnTo>
                  <a:cubicBezTo>
                    <a:pt x="2275682" y="0"/>
                    <a:pt x="2289240" y="13559"/>
                    <a:pt x="2289240" y="30284"/>
                  </a:cubicBezTo>
                  <a:lnTo>
                    <a:pt x="2289240" y="1064927"/>
                  </a:lnTo>
                  <a:cubicBezTo>
                    <a:pt x="2289240" y="1081652"/>
                    <a:pt x="2275682" y="1095210"/>
                    <a:pt x="2258957" y="1095210"/>
                  </a:cubicBezTo>
                  <a:lnTo>
                    <a:pt x="30284" y="1095210"/>
                  </a:lnTo>
                  <a:cubicBezTo>
                    <a:pt x="13559" y="1095210"/>
                    <a:pt x="0" y="1081652"/>
                    <a:pt x="0" y="1064927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2DCFF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289241" cy="1133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209998" y="1971883"/>
            <a:ext cx="663646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balance between underfitting </a:t>
            </a:r>
          </a:p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and overfitting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209998" y="6031059"/>
            <a:ext cx="663646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balance between underfitting </a:t>
            </a:r>
          </a:p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b="true" sz="3000" spc="60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and overfitting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74160" y="3141345"/>
            <a:ext cx="5531442" cy="200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pc="48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Degree 2 → t</a:t>
            </a:r>
            <a:r>
              <a:rPr lang="en-US" b="true" sz="2400" spc="48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oo simple</a:t>
            </a:r>
          </a:p>
          <a:p>
            <a:pPr algn="l" marL="518160" indent="-259080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pc="48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Degree 9 → too complex</a:t>
            </a:r>
          </a:p>
          <a:p>
            <a:pPr algn="l" marL="518160" indent="-259080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pc="48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Degree 5 → the “sweet spot” of complexity, yielding the best validation &amp; test performance.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1255805" y="7549173"/>
            <a:ext cx="6544850" cy="200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400" spc="48">
                <a:solidFill>
                  <a:srgbClr val="0A014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With an imbalanced churn dataset, metrics like precision, recall, and AUC were crucial to fully understand model performance.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</a:p>
          <a:p>
            <a:pPr algn="l">
              <a:lnSpc>
                <a:spcPts val="264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6218" y="0"/>
                  </a:moveTo>
                  <a:lnTo>
                    <a:pt x="4258508" y="0"/>
                  </a:lnTo>
                  <a:cubicBezTo>
                    <a:pt x="4267465" y="0"/>
                    <a:pt x="4274726" y="7261"/>
                    <a:pt x="4274726" y="16218"/>
                  </a:cubicBezTo>
                  <a:lnTo>
                    <a:pt x="4274726" y="2151249"/>
                  </a:lnTo>
                  <a:cubicBezTo>
                    <a:pt x="4274726" y="2160206"/>
                    <a:pt x="4267465" y="2167467"/>
                    <a:pt x="4258508" y="2167467"/>
                  </a:cubicBezTo>
                  <a:lnTo>
                    <a:pt x="16218" y="2167467"/>
                  </a:lnTo>
                  <a:cubicBezTo>
                    <a:pt x="7261" y="2167467"/>
                    <a:pt x="0" y="2160206"/>
                    <a:pt x="0" y="2151249"/>
                  </a:cubicBezTo>
                  <a:lnTo>
                    <a:pt x="0" y="16218"/>
                  </a:lnTo>
                  <a:cubicBezTo>
                    <a:pt x="0" y="7261"/>
                    <a:pt x="7261" y="0"/>
                    <a:pt x="162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2DC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75491" y="3012728"/>
            <a:ext cx="9001576" cy="242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12"/>
              </a:lnSpc>
              <a:spcBef>
                <a:spcPct val="0"/>
              </a:spcBef>
            </a:pPr>
            <a:r>
              <a:rPr lang="en-US" sz="14223" strike="noStrike" u="none">
                <a:solidFill>
                  <a:srgbClr val="0A0147"/>
                </a:solidFill>
                <a:latin typeface="Canva Sans"/>
                <a:ea typeface="Canva Sans"/>
                <a:cs typeface="Canva Sans"/>
                <a:sym typeface="Canva Sans"/>
              </a:rPr>
              <a:t>Thank You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635238" y="3631723"/>
            <a:ext cx="5690498" cy="4573091"/>
          </a:xfrm>
          <a:custGeom>
            <a:avLst/>
            <a:gdLst/>
            <a:ahLst/>
            <a:cxnLst/>
            <a:rect r="r" b="b" t="t" l="l"/>
            <a:pathLst>
              <a:path h="4573091" w="5690498">
                <a:moveTo>
                  <a:pt x="0" y="0"/>
                </a:moveTo>
                <a:lnTo>
                  <a:pt x="5690498" y="0"/>
                </a:lnTo>
                <a:lnTo>
                  <a:pt x="5690498" y="4573091"/>
                </a:lnTo>
                <a:lnTo>
                  <a:pt x="0" y="4573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DAG5iaR2JMc</dc:identifier>
  <dcterms:modified xsi:type="dcterms:W3CDTF">2011-08-01T06:04:30Z</dcterms:modified>
  <cp:revision>1</cp:revision>
  <dc:title>Assignment 2: Non-Linear &amp; Logistic Regression Analysis</dc:title>
</cp:coreProperties>
</file>